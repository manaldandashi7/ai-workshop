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69" r:id="rId6"/>
    <p:sldId id="271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696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89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99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43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F9A8D4">
              <a:alpha val="40000"/>
            </a:srgbClr>
          </a:solidFill>
          <a:ln w="12700">
            <a:solidFill>
              <a:srgbClr val="F9A8D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645920" cy="1645920"/>
          </a:xfrm>
          <a:prstGeom prst="ellipse">
            <a:avLst/>
          </a:prstGeom>
          <a:solidFill>
            <a:srgbClr val="6EE7B7">
              <a:alpha val="45000"/>
            </a:srgbClr>
          </a:solidFill>
          <a:ln w="12700">
            <a:solidFill>
              <a:srgbClr val="6EE7B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50292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A78BFA">
              <a:alpha val="75000"/>
            </a:srgbClr>
          </a:solidFill>
          <a:ln w="1270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502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</a:rPr>
              <a:t>SECOND PART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Smarter Chatbots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B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Stateless to Memory-Powered AI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834640"/>
            <a:ext cx="2148840" cy="475488"/>
          </a:xfrm>
          <a:prstGeom prst="roundRect">
            <a:avLst>
              <a:gd name="adj" fmla="val 28846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FDE68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346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📄  JSON 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834640"/>
            <a:ext cx="2148840" cy="475488"/>
          </a:xfrm>
          <a:prstGeom prst="roundRect">
            <a:avLst>
              <a:gd name="adj" fmla="val 28846"/>
            </a:avLst>
          </a:prstGeom>
          <a:solidFill>
            <a:srgbClr val="93C5FD">
              <a:alpha val="80000"/>
            </a:srgbClr>
          </a:solidFill>
          <a:ln w="12700">
            <a:solidFill>
              <a:srgbClr val="93C5FD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8346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2D1B69"/>
                </a:solidFill>
              </a:rPr>
              <a:t>PostgreSQL </a:t>
            </a:r>
            <a:r>
              <a:rPr lang="en-US" sz="1200" b="1" dirty="0">
                <a:solidFill>
                  <a:srgbClr val="2D1B69"/>
                </a:solidFill>
              </a:rPr>
              <a:t>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834640"/>
            <a:ext cx="2148840" cy="475488"/>
          </a:xfrm>
          <a:prstGeom prst="roundRect">
            <a:avLst>
              <a:gd name="adj" fmla="val 28846"/>
            </a:avLst>
          </a:prstGeom>
          <a:solidFill>
            <a:srgbClr val="6EE7B7">
              <a:alpha val="80000"/>
            </a:srgbClr>
          </a:solidFill>
          <a:ln w="12700">
            <a:solidFill>
              <a:srgbClr val="6EE7B7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8346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🔍  RAG Chatbot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3072384"/>
            <a:ext cx="320040" cy="0"/>
          </a:xfrm>
          <a:prstGeom prst="line">
            <a:avLst/>
          </a:prstGeom>
          <a:noFill/>
          <a:ln w="19050">
            <a:solidFill>
              <a:srgbClr val="8B7D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072384"/>
            <a:ext cx="320040" cy="0"/>
          </a:xfrm>
          <a:prstGeom prst="line">
            <a:avLst/>
          </a:prstGeom>
          <a:noFill/>
          <a:ln w="19050">
            <a:solidFill>
              <a:srgbClr val="8B7D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7DB5"/>
                </a:solidFill>
              </a:rPr>
              <a:t>Prerequisites: LLM basics  •  API key usage  •  Gradio chatbot</a:t>
            </a:r>
            <a:endParaRPr lang="en-US" sz="1100" dirty="0"/>
          </a:p>
        </p:txBody>
      </p:sp>
      <p:sp>
        <p:nvSpPr>
          <p:cNvPr id="18" name="Flowchart: Magnetic Disk 17"/>
          <p:cNvSpPr/>
          <p:nvPr/>
        </p:nvSpPr>
        <p:spPr>
          <a:xfrm>
            <a:off x="3999678" y="3003771"/>
            <a:ext cx="124990" cy="124990"/>
          </a:xfrm>
          <a:prstGeom prst="flowChartMagneticDisk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Your Chatbot Forgets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051560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66344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Hi! My name is Sara.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01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B69"/>
                </a:solidFill>
              </a:rPr>
              <a:t>Hello Sara! Nice to meet you 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551176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5511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What's my name?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00984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009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1B69"/>
                </a:solidFill>
              </a:rPr>
              <a:t>I'm sorry, I don't know your name...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CA5A5">
              <a:alpha val="70000"/>
            </a:srgbClr>
          </a:solidFill>
          <a:ln w="12700">
            <a:solidFill>
              <a:srgbClr val="FCA5A5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D1B69"/>
                </a:solidFill>
              </a:rPr>
              <a:t>⚠  </a:t>
            </a:r>
            <a:r>
              <a:rPr lang="en-US" sz="1300" b="1" dirty="0">
                <a:solidFill>
                  <a:srgbClr val="2D1B69"/>
                </a:solidFill>
              </a:rPr>
              <a:t>Why?  </a:t>
            </a:r>
            <a:r>
              <a:rPr lang="en-US" sz="1300" dirty="0">
                <a:solidFill>
                  <a:srgbClr val="5B4F7A"/>
                </a:solidFill>
              </a:rPr>
              <a:t>Every API call is stateless — the model has no memory of previous messages unless you pass history back in.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Session Memory (In-Context)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4F7A"/>
                </a:solidFill>
              </a:rPr>
              <a:t>The fix is simple: keep a messages list and send it every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212080" cy="2997127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OpenAI()  # uses OPENAI_API_KEY env var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chat(user_input):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messages.append({"role": "user", "content": user_input})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client.chat.completions.create(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model="gpt-4o",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messages=messages   # 👈 full history sent each time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response.choices[0].message.content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messages.append({"role": "assistant", "content": reply})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0" y="150876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5636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</a:rPr>
              <a:t>✅ Easy to implement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1892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Just a Python list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51460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25694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</a:rPr>
              <a:t>⚡ Works instantly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2898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No new tools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52044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35753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2D1B69"/>
                </a:solidFill>
              </a:rPr>
              <a:t>⚠ </a:t>
            </a:r>
            <a:r>
              <a:rPr lang="en-US" sz="1200" b="1" dirty="0">
                <a:solidFill>
                  <a:srgbClr val="2D1B69"/>
                </a:solidFill>
              </a:rPr>
              <a:t>Lost on restart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39044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Not saved anywhere yet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FDE68A">
              <a:alpha val="70000"/>
            </a:srgbClr>
          </a:solidFill>
          <a:ln w="12700">
            <a:solidFill>
              <a:srgbClr val="FDE68A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D1B69"/>
                </a:solidFill>
              </a:rPr>
              <a:t>Exercise</a:t>
            </a:r>
            <a:r>
              <a:rPr lang="en-US" sz="1100" dirty="0">
                <a:solidFill>
                  <a:srgbClr val="2D1B69"/>
                </a:solidFill>
              </a:rPr>
              <a:t>: Ask your bot 'what did I just say?' — break it, then fix it with the messages list.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Memory Really </a:t>
            </a:r>
            <a:r>
              <a:rPr lang="en-US" sz="2600" b="1" dirty="0" smtClean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4F7A"/>
                </a:solidFill>
              </a:rPr>
              <a:t>Every time you send a message, this is what happens behind the scenes: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329184" cy="329184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6384" y="1115568"/>
            <a:ext cx="4754880" cy="402336"/>
          </a:xfrm>
          <a:prstGeom prst="roundRect">
            <a:avLst>
              <a:gd name="adj" fmla="val 22727"/>
            </a:avLst>
          </a:prstGeom>
          <a:solidFill>
            <a:srgbClr val="93C5FD">
              <a:alpha val="45000"/>
            </a:srgbClr>
          </a:solidFill>
          <a:ln w="12700">
            <a:solidFill>
              <a:srgbClr val="93C5FD">
                <a:alpha val="75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115568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You send a message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1536192"/>
            <a:ext cx="0" cy="25603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7373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329184" cy="329184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" y="1773936"/>
            <a:ext cx="4754880" cy="402336"/>
          </a:xfrm>
          <a:prstGeom prst="roundRect">
            <a:avLst>
              <a:gd name="adj" fmla="val 22727"/>
            </a:avLst>
          </a:prstGeom>
          <a:solidFill>
            <a:srgbClr val="6EE7B7">
              <a:alpha val="45000"/>
            </a:srgbClr>
          </a:solidFill>
          <a:ln w="12700">
            <a:solidFill>
              <a:srgbClr val="6EE7B7">
                <a:alpha val="75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" y="177393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It gets saved to the DATABASE immediately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2194560"/>
            <a:ext cx="0" cy="25603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39572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329184" cy="329184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" y="2432304"/>
            <a:ext cx="4754880" cy="402336"/>
          </a:xfrm>
          <a:prstGeom prst="roundRect">
            <a:avLst>
              <a:gd name="adj" fmla="val 22727"/>
            </a:avLst>
          </a:prstGeom>
          <a:solidFill>
            <a:srgbClr val="6EE7B7">
              <a:alpha val="45000"/>
            </a:srgbClr>
          </a:solidFill>
          <a:ln w="12700">
            <a:solidFill>
              <a:srgbClr val="6EE7B7">
                <a:alpha val="75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824" y="2432304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Full history is loaded from DATABASE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2852928"/>
            <a:ext cx="0" cy="25603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05409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329184" cy="329184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" y="3090672"/>
            <a:ext cx="4754880" cy="402336"/>
          </a:xfrm>
          <a:prstGeom prst="roundRect">
            <a:avLst>
              <a:gd name="adj" fmla="val 22727"/>
            </a:avLst>
          </a:prstGeom>
          <a:solidFill>
            <a:srgbClr val="93C5FD">
              <a:alpha val="45000"/>
            </a:srgbClr>
          </a:solidFill>
          <a:ln w="12700">
            <a:solidFill>
              <a:srgbClr val="93C5FD">
                <a:alpha val="75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7824" y="3090672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History is put into the messages list (RAM)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3511296"/>
            <a:ext cx="0" cy="25603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712464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785616"/>
            <a:ext cx="329184" cy="3291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6384" y="3749040"/>
            <a:ext cx="4754880" cy="402336"/>
          </a:xfrm>
          <a:prstGeom prst="roundRect">
            <a:avLst>
              <a:gd name="adj" fmla="val 22727"/>
            </a:avLst>
          </a:prstGeom>
          <a:solidFill>
            <a:srgbClr val="A78BFA">
              <a:alpha val="45000"/>
            </a:srgbClr>
          </a:solidFill>
          <a:ln w="12700">
            <a:solidFill>
              <a:srgbClr val="A78BFA">
                <a:alpha val="75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77824" y="3749040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messages list is sent to the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4169664"/>
            <a:ext cx="0" cy="25603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37083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</a:rPr>
              <a:t>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443984"/>
            <a:ext cx="329184" cy="329184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86384" y="4407408"/>
            <a:ext cx="4754880" cy="402336"/>
          </a:xfrm>
          <a:prstGeom prst="roundRect">
            <a:avLst>
              <a:gd name="adj" fmla="val 22727"/>
            </a:avLst>
          </a:prstGeom>
          <a:solidFill>
            <a:srgbClr val="6EE7B7">
              <a:alpha val="45000"/>
            </a:srgbClr>
          </a:solidFill>
          <a:ln w="12700">
            <a:solidFill>
              <a:srgbClr val="6EE7B7">
                <a:alpha val="75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77824" y="4407408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Reply comes back → saved to DATABASE + RAM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15000" y="813948"/>
            <a:ext cx="3108960" cy="1920240"/>
          </a:xfrm>
          <a:prstGeom prst="roundRect">
            <a:avLst>
              <a:gd name="adj" fmla="val 7143"/>
            </a:avLst>
          </a:prstGeom>
          <a:solidFill>
            <a:srgbClr val="93C5FD">
              <a:alpha val="45000"/>
            </a:srgbClr>
          </a:solidFill>
          <a:ln w="12700">
            <a:solidFill>
              <a:srgbClr val="93C5FD">
                <a:alpha val="8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06440" y="88710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🧠  Session Memory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806440" y="119799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4F7A"/>
                </a:solidFill>
              </a:rPr>
              <a:t>The messages list — lives in RAM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06440" y="1472316"/>
            <a:ext cx="2926080" cy="1170432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151803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52160" y="17283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{user: "build notebook"}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0" y="19386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{asst: "here it is..."}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52160" y="21489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{user: "fix gradio bug"}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52160" y="235928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733288" y="2688007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</a:rPr>
              <a:t>⚡ Gone on restart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33288" y="2917989"/>
            <a:ext cx="3090672" cy="1947540"/>
          </a:xfrm>
          <a:prstGeom prst="roundRect">
            <a:avLst>
              <a:gd name="adj" fmla="val 5515"/>
            </a:avLst>
          </a:prstGeom>
          <a:solidFill>
            <a:srgbClr val="6EE7B7">
              <a:alpha val="45000"/>
            </a:srgbClr>
          </a:solidFill>
          <a:ln w="12700">
            <a:solidFill>
              <a:srgbClr val="6EE7B7">
                <a:alpha val="8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820964" y="3009429"/>
            <a:ext cx="2908868" cy="257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🗄️  Long-Term Memory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820964" y="3375189"/>
            <a:ext cx="2908868" cy="186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4F7A"/>
                </a:solidFill>
              </a:rPr>
              <a:t>The database — lives on the server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20964" y="3649509"/>
            <a:ext cx="2908868" cy="100241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64800" y="3695229"/>
            <a:ext cx="2817966" cy="171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| role    | content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64800" y="3932973"/>
            <a:ext cx="2817966" cy="171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| user    | build notebook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64800" y="4170717"/>
            <a:ext cx="2817966" cy="171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| asst    | here it is...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864800" y="4408461"/>
            <a:ext cx="2817966" cy="171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| user    | fix gradio bug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41894" y="4874937"/>
            <a:ext cx="2908868" cy="200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E7B7"/>
                </a:solidFill>
              </a:rPr>
              <a:t>💾 Survives restart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583387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DE68A">
              <a:alpha val="70000"/>
            </a:srgbClr>
          </a:solidFill>
          <a:ln w="12700">
            <a:solidFill>
              <a:srgbClr val="FDE68A">
                <a:alpha val="8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58338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4F7A"/>
                </a:solidFill>
              </a:rPr>
              <a:t>💡  Your Section 4 code does </a:t>
            </a:r>
            <a:r>
              <a:rPr lang="en-US" sz="1150" b="1" dirty="0">
                <a:solidFill>
                  <a:srgbClr val="2D1B69"/>
                </a:solidFill>
              </a:rPr>
              <a:t>exactly</a:t>
            </a:r>
            <a:r>
              <a:rPr lang="en-US" sz="1150" dirty="0">
                <a:solidFill>
                  <a:srgbClr val="5B4F7A"/>
                </a:solidFill>
              </a:rPr>
              <a:t> this — steps 2, 3, 4, 5, and 6.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03758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</a:t>
            </a: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Databases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4F7A"/>
                </a:solidFill>
              </a:rPr>
              <a:t>Not all databases are the same — each solves a different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06908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93C5FD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109728" cy="171907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69"/>
                </a:solidFill>
              </a:rPr>
              <a:t>Relational DB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" y="1755648"/>
            <a:ext cx="3657600" cy="237744"/>
          </a:xfrm>
          <a:prstGeom prst="roundRect">
            <a:avLst>
              <a:gd name="adj" fmla="val 26923"/>
            </a:avLst>
          </a:prstGeom>
          <a:solidFill>
            <a:srgbClr val="93C5FD">
              <a:alpha val="55000"/>
            </a:srgbClr>
          </a:solidFill>
          <a:ln w="12700">
            <a:solidFill>
              <a:srgbClr val="93C5FD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1B69"/>
                </a:solidFill>
              </a:rPr>
              <a:t>PostgreSQL  |  MySQL  |  SQLite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206654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7A"/>
                </a:solidFill>
              </a:rPr>
              <a:t>Structured data in rows &amp; columns. Perfect for chat history, users, orders — anything with clear fixed structure.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1B69"/>
                </a:solidFill>
              </a:rPr>
              <a:t>Used in: Our chatbot memory (Section 4)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06908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6EE7B7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109728" cy="171907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69"/>
                </a:solidFill>
              </a:rPr>
              <a:t>Vector DB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64608" y="1755648"/>
            <a:ext cx="3657600" cy="237744"/>
          </a:xfrm>
          <a:prstGeom prst="roundRect">
            <a:avLst>
              <a:gd name="adj" fmla="val 26923"/>
            </a:avLst>
          </a:prstGeom>
          <a:solidFill>
            <a:srgbClr val="6EE7B7">
              <a:alpha val="55000"/>
            </a:srgbClr>
          </a:solidFill>
          <a:ln w="12700">
            <a:solidFill>
              <a:srgbClr val="6EE7B7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1B69"/>
                </a:solidFill>
              </a:rPr>
              <a:t>Qdrant  |  Pinecone  |  ChromaDB  |  Weaviate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206654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7A"/>
                </a:solidFill>
              </a:rPr>
              <a:t>Stores embeddings — numbers that represent meaning. Finds similar content by meaning, not exact keywords.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1B69"/>
                </a:solidFill>
              </a:rPr>
              <a:t>Used in: Our RAG chatbot (Section 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406908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F9A8D4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54680"/>
            <a:ext cx="109728" cy="1719072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69"/>
                </a:solidFill>
              </a:rPr>
              <a:t>Document DB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1208" y="3630168"/>
            <a:ext cx="3657600" cy="237744"/>
          </a:xfrm>
          <a:prstGeom prst="roundRect">
            <a:avLst>
              <a:gd name="adj" fmla="val 26923"/>
            </a:avLst>
          </a:prstGeom>
          <a:solidFill>
            <a:srgbClr val="F9A8D4">
              <a:alpha val="55000"/>
            </a:srgbClr>
          </a:solidFill>
          <a:ln w="12700">
            <a:solidFill>
              <a:srgbClr val="F9A8D4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630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1B69"/>
                </a:solidFill>
              </a:rPr>
              <a:t>MongoDB  |  Firestore  |  CouchDB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1208" y="394106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7A"/>
                </a:solidFill>
              </a:rPr>
              <a:t>Stores flexible JSON-like documents. Great when your data has no fixed structure or changes often.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" y="45994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1B69"/>
                </a:solidFill>
              </a:rPr>
              <a:t>Used in: APIs, content management, user profiles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154680"/>
            <a:ext cx="406908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FDE68A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154680"/>
            <a:ext cx="109728" cy="1719072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69"/>
                </a:solidFill>
              </a:rPr>
              <a:t>In-Memory DB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64608" y="3630168"/>
            <a:ext cx="3657600" cy="237744"/>
          </a:xfrm>
          <a:prstGeom prst="roundRect">
            <a:avLst>
              <a:gd name="adj" fmla="val 26923"/>
            </a:avLst>
          </a:prstGeom>
          <a:solidFill>
            <a:srgbClr val="FDE68A">
              <a:alpha val="55000"/>
            </a:srgbClr>
          </a:solidFill>
          <a:ln w="12700">
            <a:solidFill>
              <a:srgbClr val="FDE68A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630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1B69"/>
                </a:solidFill>
              </a:rPr>
              <a:t>Redis  |  Memcached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64608" y="394106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7A"/>
                </a:solidFill>
              </a:rPr>
              <a:t>Stores data in RAM — extremely fast. Used for caching, sessions, and real-time features like live chat.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45994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1B69"/>
                </a:solidFill>
              </a:rPr>
              <a:t>Used in: Sessions, caching, real-time apps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16131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DB vs Vector DB — When to Use Which?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4045" y="713939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4F7A"/>
                </a:solidFill>
              </a:rPr>
              <a:t>They are not competitors — they solve completely different problems.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863" y="1556133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Use when you know EXACTLY what you want</a:t>
            </a:r>
          </a:p>
        </p:txBody>
      </p:sp>
      <p:sp>
        <p:nvSpPr>
          <p:cNvPr id="10" name="Text 8"/>
          <p:cNvSpPr/>
          <p:nvPr/>
        </p:nvSpPr>
        <p:spPr>
          <a:xfrm>
            <a:off x="4671280" y="15482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Use when you search by MEANING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758347" y="1079214"/>
            <a:ext cx="7404806" cy="421419"/>
            <a:chOff x="457200" y="1049044"/>
            <a:chExt cx="7883246" cy="404852"/>
          </a:xfrm>
        </p:grpSpPr>
        <p:sp>
          <p:nvSpPr>
            <p:cNvPr id="5" name="Shape 3"/>
            <p:cNvSpPr/>
            <p:nvPr/>
          </p:nvSpPr>
          <p:spPr>
            <a:xfrm>
              <a:off x="457200" y="1060704"/>
              <a:ext cx="3265526" cy="393192"/>
            </a:xfrm>
            <a:prstGeom prst="roundRect">
              <a:avLst>
                <a:gd name="adj" fmla="val 19231"/>
              </a:avLst>
            </a:prstGeom>
            <a:solidFill>
              <a:srgbClr val="93C5FD">
                <a:alpha val="70000"/>
              </a:srgbClr>
            </a:solidFill>
            <a:ln w="12700">
              <a:solidFill>
                <a:srgbClr val="93C5FD">
                  <a:alpha val="80000"/>
                </a:srgbClr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57200" y="1060704"/>
              <a:ext cx="3265526" cy="3931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 smtClean="0">
                  <a:solidFill>
                    <a:srgbClr val="2D1B69"/>
                  </a:solidFill>
                </a:rPr>
                <a:t>🗄 </a:t>
              </a:r>
              <a:r>
                <a:rPr lang="en-US" sz="1300" b="1" dirty="0">
                  <a:solidFill>
                    <a:srgbClr val="2D1B69"/>
                  </a:solidFill>
                </a:rPr>
                <a:t>Relational DB  (PostgreSQL)</a:t>
              </a:r>
              <a:endParaRPr lang="en-US" sz="13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074920" y="1060704"/>
              <a:ext cx="3265526" cy="393192"/>
            </a:xfrm>
            <a:prstGeom prst="roundRect">
              <a:avLst>
                <a:gd name="adj" fmla="val 19231"/>
              </a:avLst>
            </a:prstGeom>
            <a:solidFill>
              <a:srgbClr val="6EE7B7">
                <a:alpha val="70000"/>
              </a:srgbClr>
            </a:solidFill>
            <a:ln w="12700">
              <a:solidFill>
                <a:srgbClr val="6EE7B7">
                  <a:alpha val="80000"/>
                </a:srgbClr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074920" y="1060704"/>
              <a:ext cx="3265526" cy="3931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D1B69"/>
                  </a:solidFill>
                </a:rPr>
                <a:t>🔍  Vector DB  (ChromaDB / Qdrant)</a:t>
              </a:r>
              <a:endParaRPr lang="en-US" sz="1300" dirty="0"/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4232951" y="1049044"/>
              <a:ext cx="361682" cy="349609"/>
              <a:chOff x="4296364" y="1003355"/>
              <a:chExt cx="361682" cy="349609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4296364" y="1020263"/>
                <a:ext cx="361682" cy="332701"/>
              </a:xfrm>
              <a:prstGeom prst="ellipse">
                <a:avLst/>
              </a:prstGeom>
              <a:solidFill>
                <a:srgbClr val="A78BFA">
                  <a:alpha val="80000"/>
                </a:srgbClr>
              </a:solidFill>
              <a:ln w="12700">
                <a:solidFill>
                  <a:srgbClr val="A78BFA">
                    <a:alpha val="80000"/>
                  </a:srgbClr>
                </a:solidFill>
                <a:prstDash val="solid"/>
              </a:ln>
            </p:spPr>
          </p:sp>
          <p:sp>
            <p:nvSpPr>
              <p:cNvPr id="12" name="Text 10"/>
              <p:cNvSpPr/>
              <p:nvPr/>
            </p:nvSpPr>
            <p:spPr>
              <a:xfrm>
                <a:off x="4350702" y="1003355"/>
                <a:ext cx="288383" cy="3100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vs</a:t>
                </a:r>
                <a:endParaRPr lang="en-US" sz="1200" dirty="0"/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795832" y="1804232"/>
            <a:ext cx="7761648" cy="3214588"/>
            <a:chOff x="262084" y="1622478"/>
            <a:chExt cx="8503920" cy="3291840"/>
          </a:xfrm>
        </p:grpSpPr>
        <p:sp>
          <p:nvSpPr>
            <p:cNvPr id="13" name="Shape 11"/>
            <p:cNvSpPr/>
            <p:nvPr/>
          </p:nvSpPr>
          <p:spPr>
            <a:xfrm>
              <a:off x="262084" y="1622478"/>
              <a:ext cx="8503920" cy="201168"/>
            </a:xfrm>
            <a:prstGeom prst="roundRect">
              <a:avLst>
                <a:gd name="adj" fmla="val 27273"/>
              </a:avLst>
            </a:prstGeom>
            <a:solidFill>
              <a:srgbClr val="A78BFA">
                <a:alpha val="25000"/>
              </a:srgbClr>
            </a:solidFill>
            <a:ln w="12700">
              <a:solidFill>
                <a:srgbClr val="A78BFA">
                  <a:alpha val="40000"/>
                </a:srgbClr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53524" y="1622478"/>
              <a:ext cx="83210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D1B69"/>
                  </a:solidFill>
                </a:rPr>
                <a:t>Query: "Messages from alice today"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62084" y="1851078"/>
              <a:ext cx="3886200" cy="594360"/>
            </a:xfrm>
            <a:prstGeom prst="roundRect">
              <a:avLst>
                <a:gd name="adj" fmla="val 12308"/>
              </a:avLst>
            </a:prstGeom>
            <a:solidFill>
              <a:srgbClr val="93C5FD">
                <a:alpha val="50000"/>
              </a:srgbClr>
            </a:solidFill>
            <a:ln w="12700">
              <a:solidFill>
                <a:srgbClr val="93C5FD">
                  <a:alpha val="70000"/>
                </a:srgbClr>
              </a:solidFill>
              <a:prstDash val="solid"/>
            </a:ln>
            <a:effectLst>
              <a:outerShdw blurRad="76200" dist="25400" dir="8100000" algn="bl" rotWithShape="0">
                <a:srgbClr val="C4B5FD">
                  <a:alpha val="15000"/>
                </a:srgbClr>
              </a:outerShdw>
            </a:effectLst>
          </p:spPr>
        </p:sp>
        <p:sp>
          <p:nvSpPr>
            <p:cNvPr id="16" name="Text 14"/>
            <p:cNvSpPr/>
            <p:nvPr/>
          </p:nvSpPr>
          <p:spPr>
            <a:xfrm>
              <a:off x="326092" y="187851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D9E75"/>
                  </a:solidFill>
                </a:rPr>
                <a:t>✓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00412" y="1869366"/>
              <a:ext cx="2999232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SELECT * FROM chat_history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WHERE user_id='alice'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AND DATE = TODAY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00412" y="2280846"/>
              <a:ext cx="32918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D9E75"/>
                  </a:solidFill>
                </a:rPr>
                <a:t>Exact filter. Fast. Indexed.</a:t>
              </a:r>
              <a:endParaRPr lang="en-US" sz="8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184860" y="1942518"/>
              <a:ext cx="6583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A78BFA"/>
                  </a:solidFill>
                </a:rPr>
                <a:t>←</a:t>
              </a:r>
              <a:endParaRPr lang="en-US" sz="18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879804" y="1851078"/>
              <a:ext cx="3886200" cy="594360"/>
            </a:xfrm>
            <a:prstGeom prst="roundRect">
              <a:avLst>
                <a:gd name="adj" fmla="val 12308"/>
              </a:avLst>
            </a:prstGeom>
            <a:solidFill>
              <a:srgbClr val="F1EFE8">
                <a:alpha val="70000"/>
              </a:srgbClr>
            </a:solidFill>
            <a:ln w="12700">
              <a:solidFill>
                <a:srgbClr val="D3D1C7">
                  <a:alpha val="70000"/>
                </a:srgbClr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943812" y="187851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CA5A5"/>
                  </a:solidFill>
                </a:rPr>
                <a:t>✗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208988" y="1869366"/>
              <a:ext cx="2999232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Cannot filter by user or date.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understands meaning.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208988" y="2280846"/>
              <a:ext cx="32918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7DB5"/>
                  </a:solidFill>
                </a:rPr>
                <a:t>Wrong tool here.</a:t>
              </a:r>
              <a:endParaRPr lang="en-US" sz="8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262084" y="2445438"/>
              <a:ext cx="8503920" cy="201168"/>
            </a:xfrm>
            <a:prstGeom prst="roundRect">
              <a:avLst>
                <a:gd name="adj" fmla="val 27273"/>
              </a:avLst>
            </a:prstGeom>
            <a:solidFill>
              <a:srgbClr val="A78BFA">
                <a:alpha val="25000"/>
              </a:srgbClr>
            </a:solidFill>
            <a:ln w="12700">
              <a:solidFill>
                <a:srgbClr val="A78BFA">
                  <a:alpha val="40000"/>
                </a:srgbClr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353524" y="2445438"/>
              <a:ext cx="83210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D1B69"/>
                  </a:solidFill>
                </a:rPr>
                <a:t>Query: "Something cozy for winter nights"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62084" y="2674038"/>
              <a:ext cx="3886200" cy="594360"/>
            </a:xfrm>
            <a:prstGeom prst="roundRect">
              <a:avLst>
                <a:gd name="adj" fmla="val 12308"/>
              </a:avLst>
            </a:prstGeom>
            <a:solidFill>
              <a:srgbClr val="F1EFE8">
                <a:alpha val="70000"/>
              </a:srgbClr>
            </a:solidFill>
            <a:ln w="12700">
              <a:solidFill>
                <a:srgbClr val="D3D1C7">
                  <a:alpha val="70000"/>
                </a:srgbClr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26092" y="270147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CA5A5"/>
                  </a:solidFill>
                </a:rPr>
                <a:t>✗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00412" y="2692326"/>
              <a:ext cx="2999232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finds rows with the exact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word 'cozy'. Misses 'fleece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blanket', 'wool socks'.</a:t>
              </a:r>
              <a:endParaRPr lang="en-US" sz="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00412" y="3103806"/>
              <a:ext cx="32918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7DB5"/>
                  </a:solidFill>
                </a:rPr>
                <a:t>Too literal.</a:t>
              </a:r>
              <a:endParaRPr lang="en-US" sz="8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184860" y="2765478"/>
              <a:ext cx="6583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A78BFA"/>
                  </a:solidFill>
                </a:rPr>
                <a:t>→</a:t>
              </a:r>
              <a:endParaRPr lang="en-US" sz="18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879804" y="2674038"/>
              <a:ext cx="3886200" cy="594360"/>
            </a:xfrm>
            <a:prstGeom prst="roundRect">
              <a:avLst>
                <a:gd name="adj" fmla="val 12308"/>
              </a:avLst>
            </a:prstGeom>
            <a:solidFill>
              <a:srgbClr val="6EE7B7">
                <a:alpha val="50000"/>
              </a:srgbClr>
            </a:solidFill>
            <a:ln w="12700">
              <a:solidFill>
                <a:srgbClr val="6EE7B7">
                  <a:alpha val="70000"/>
                </a:srgbClr>
              </a:solidFill>
              <a:prstDash val="solid"/>
            </a:ln>
            <a:effectLst>
              <a:outerShdw blurRad="76200" dist="25400" dir="8100000" algn="bl" rotWithShape="0">
                <a:srgbClr val="C4B5FD">
                  <a:alpha val="15000"/>
                </a:srgbClr>
              </a:outerShdw>
            </a:effectLst>
          </p:spPr>
        </p:sp>
        <p:sp>
          <p:nvSpPr>
            <p:cNvPr id="32" name="Text 30"/>
            <p:cNvSpPr/>
            <p:nvPr/>
          </p:nvSpPr>
          <p:spPr>
            <a:xfrm>
              <a:off x="4943812" y="270147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D9E75"/>
                  </a:solidFill>
                </a:rPr>
                <a:t>✓</a:t>
              </a:r>
              <a:endParaRPr lang="en-US" sz="14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208988" y="2692326"/>
              <a:ext cx="2999232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Finds: 'fleece blanket',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'thermal mug', 'wool socks'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— by meaning, not keyword.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208988" y="3103806"/>
              <a:ext cx="32918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D9E75"/>
                  </a:solidFill>
                </a:rPr>
                <a:t>Perfect fit.</a:t>
              </a:r>
              <a:endParaRPr lang="en-US" sz="8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62084" y="3268398"/>
              <a:ext cx="8503920" cy="201168"/>
            </a:xfrm>
            <a:prstGeom prst="roundRect">
              <a:avLst>
                <a:gd name="adj" fmla="val 27273"/>
              </a:avLst>
            </a:prstGeom>
            <a:solidFill>
              <a:srgbClr val="A78BFA">
                <a:alpha val="25000"/>
              </a:srgbClr>
            </a:solidFill>
            <a:ln w="12700">
              <a:solidFill>
                <a:srgbClr val="A78BFA">
                  <a:alpha val="40000"/>
                </a:srgbClr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353524" y="3268398"/>
              <a:ext cx="83210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D1B69"/>
                  </a:solidFill>
                </a:rPr>
                <a:t>Query: "How do I return a product?"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262084" y="3496998"/>
              <a:ext cx="3886200" cy="594360"/>
            </a:xfrm>
            <a:prstGeom prst="roundRect">
              <a:avLst>
                <a:gd name="adj" fmla="val 12308"/>
              </a:avLst>
            </a:prstGeom>
            <a:solidFill>
              <a:srgbClr val="F1EFE8">
                <a:alpha val="70000"/>
              </a:srgbClr>
            </a:solidFill>
            <a:ln w="12700">
              <a:solidFill>
                <a:srgbClr val="D3D1C7">
                  <a:alpha val="70000"/>
                </a:srgbClr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326092" y="352443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CA5A5"/>
                  </a:solidFill>
                </a:rPr>
                <a:t>✗</a:t>
              </a:r>
              <a:endParaRPr lang="en-US" sz="14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00412" y="3515286"/>
              <a:ext cx="2999232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Misses 'refund policy' or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'30-day return' if the exact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phrase is not there.</a:t>
              </a:r>
              <a:endParaRPr lang="en-US" sz="9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00412" y="3926766"/>
              <a:ext cx="32918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7DB5"/>
                  </a:solidFill>
                </a:rPr>
                <a:t>Wrong tool here.</a:t>
              </a:r>
              <a:endParaRPr lang="en-US" sz="8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4184860" y="3588438"/>
              <a:ext cx="6583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A78BFA"/>
                  </a:solidFill>
                </a:rPr>
                <a:t>→</a:t>
              </a:r>
              <a:endParaRPr lang="en-US" sz="18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4879804" y="3496998"/>
              <a:ext cx="3886200" cy="594360"/>
            </a:xfrm>
            <a:prstGeom prst="roundRect">
              <a:avLst>
                <a:gd name="adj" fmla="val 12308"/>
              </a:avLst>
            </a:prstGeom>
            <a:solidFill>
              <a:srgbClr val="6EE7B7">
                <a:alpha val="50000"/>
              </a:srgbClr>
            </a:solidFill>
            <a:ln w="12700">
              <a:solidFill>
                <a:srgbClr val="6EE7B7">
                  <a:alpha val="70000"/>
                </a:srgbClr>
              </a:solidFill>
              <a:prstDash val="solid"/>
            </a:ln>
            <a:effectLst>
              <a:outerShdw blurRad="76200" dist="25400" dir="8100000" algn="bl" rotWithShape="0">
                <a:srgbClr val="C4B5FD">
                  <a:alpha val="15000"/>
                </a:srgbClr>
              </a:outerShdw>
            </a:effectLst>
          </p:spPr>
        </p:sp>
        <p:sp>
          <p:nvSpPr>
            <p:cNvPr id="43" name="Text 41"/>
            <p:cNvSpPr/>
            <p:nvPr/>
          </p:nvSpPr>
          <p:spPr>
            <a:xfrm>
              <a:off x="4943812" y="352443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D9E75"/>
                  </a:solidFill>
                </a:rPr>
                <a:t>✓</a:t>
              </a:r>
              <a:endParaRPr lang="en-US" sz="14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208988" y="3515286"/>
              <a:ext cx="2999232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Finds the right doc chunk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even if it says 'refund'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 'return'. This is RAG.</a:t>
              </a:r>
              <a:endParaRPr lang="en-US" sz="9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5208988" y="3926766"/>
              <a:ext cx="32918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D9E75"/>
                  </a:solidFill>
                </a:rPr>
                <a:t>Exact RAG use case.</a:t>
              </a:r>
              <a:endParaRPr lang="en-US" sz="8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62084" y="4091358"/>
              <a:ext cx="8503920" cy="201168"/>
            </a:xfrm>
            <a:prstGeom prst="roundRect">
              <a:avLst>
                <a:gd name="adj" fmla="val 27273"/>
              </a:avLst>
            </a:prstGeom>
            <a:solidFill>
              <a:srgbClr val="A78BFA">
                <a:alpha val="25000"/>
              </a:srgbClr>
            </a:solidFill>
            <a:ln w="12700">
              <a:solidFill>
                <a:srgbClr val="A78BFA">
                  <a:alpha val="40000"/>
                </a:srgbClr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353524" y="4091358"/>
              <a:ext cx="83210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D1B69"/>
                  </a:solidFill>
                </a:rPr>
                <a:t>Query: "Count messages per user"</a:t>
              </a:r>
              <a:endParaRPr lang="en-US" sz="10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262084" y="4319958"/>
              <a:ext cx="3886200" cy="594360"/>
            </a:xfrm>
            <a:prstGeom prst="roundRect">
              <a:avLst>
                <a:gd name="adj" fmla="val 12308"/>
              </a:avLst>
            </a:prstGeom>
            <a:solidFill>
              <a:srgbClr val="93C5FD">
                <a:alpha val="50000"/>
              </a:srgbClr>
            </a:solidFill>
            <a:ln w="12700">
              <a:solidFill>
                <a:srgbClr val="93C5FD">
                  <a:alpha val="70000"/>
                </a:srgbClr>
              </a:solidFill>
              <a:prstDash val="solid"/>
            </a:ln>
            <a:effectLst>
              <a:outerShdw blurRad="76200" dist="25400" dir="8100000" algn="bl" rotWithShape="0">
                <a:srgbClr val="C4B5FD">
                  <a:alpha val="15000"/>
                </a:srgbClr>
              </a:outerShdw>
            </a:effectLst>
          </p:spPr>
        </p:sp>
        <p:sp>
          <p:nvSpPr>
            <p:cNvPr id="49" name="Text 47"/>
            <p:cNvSpPr/>
            <p:nvPr/>
          </p:nvSpPr>
          <p:spPr>
            <a:xfrm>
              <a:off x="326092" y="434739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D9E75"/>
                  </a:solidFill>
                </a:rPr>
                <a:t>✓</a:t>
              </a:r>
              <a:endParaRPr lang="en-US" sz="14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600412" y="4338246"/>
              <a:ext cx="2999232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SELECT user_id, COUNT(*)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chat_history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D1B6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GROUP BY user_id</a:t>
              </a:r>
              <a:endParaRPr lang="en-US" sz="9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00412" y="4749726"/>
              <a:ext cx="32918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D9E75"/>
                  </a:solidFill>
                </a:rPr>
                <a:t>One line of SQL. Perfect.</a:t>
              </a:r>
              <a:endParaRPr lang="en-US" sz="85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4184860" y="4411398"/>
              <a:ext cx="6583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A78BFA"/>
                  </a:solidFill>
                </a:rPr>
                <a:t>←</a:t>
              </a:r>
              <a:endParaRPr lang="en-US" sz="18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4879804" y="4319958"/>
              <a:ext cx="3886200" cy="594360"/>
            </a:xfrm>
            <a:prstGeom prst="roundRect">
              <a:avLst>
                <a:gd name="adj" fmla="val 12308"/>
              </a:avLst>
            </a:prstGeom>
            <a:solidFill>
              <a:srgbClr val="F1EFE8">
                <a:alpha val="70000"/>
              </a:srgbClr>
            </a:solidFill>
            <a:ln w="12700">
              <a:solidFill>
                <a:srgbClr val="D3D1C7">
                  <a:alpha val="70000"/>
                </a:srgbClr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4943812" y="434739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CA5A5"/>
                  </a:solidFill>
                </a:rPr>
                <a:t>✗</a:t>
              </a:r>
              <a:endParaRPr lang="en-US" sz="14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5208988" y="4338246"/>
              <a:ext cx="2999232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GROUP BY, no COUNT,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B7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aggregations at all.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5208988" y="4749726"/>
              <a:ext cx="32918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B7DB5"/>
                  </a:solidFill>
                </a:rPr>
                <a:t>Cannot do this.</a:t>
              </a:r>
              <a:endParaRPr lang="en-US" sz="850" dirty="0"/>
            </a:p>
          </p:txBody>
        </p:sp>
      </p:grpSp>
    </p:spTree>
    <p:extLst>
      <p:ext uri="{BB962C8B-B14F-4D97-AF65-F5344CB8AC3E}">
        <p14:creationId xmlns:p14="http://schemas.microsoft.com/office/powerpoint/2010/main" val="3217340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Persisting </a:t>
            </a: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 JSON File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25400">
            <a:solidFill>
              <a:srgbClr val="FDE6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3916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4F7A"/>
                </a:solidFill>
              </a:rPr>
              <a:t>Save the messages list to a JSON file between sessions.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029200" cy="28346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50288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json, os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HISTORY_FILE = "chat_history.json"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load_history():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os.path.exists(HISTORY_FILE):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open(HISTORY_FILE)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json.load(f)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save_history(messages):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open(HISTORY_FILE, "w")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json.dump(messages, f, indent=2)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15000" y="1234439"/>
            <a:ext cx="3017520" cy="1243584"/>
          </a:xfrm>
          <a:prstGeom prst="roundRect">
            <a:avLst>
              <a:gd name="adj" fmla="val 6452"/>
            </a:avLst>
          </a:prstGeom>
          <a:solidFill>
            <a:srgbClr val="6EE7B7">
              <a:alpha val="50000"/>
            </a:srgbClr>
          </a:solidFill>
          <a:ln w="12700">
            <a:solidFill>
              <a:srgbClr val="6EE7B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298447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</a:rPr>
              <a:t>✅  Pros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600199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Simple — no setup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Human-readable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Good for prototyping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15000" y="2697479"/>
            <a:ext cx="3017520" cy="1307592"/>
          </a:xfrm>
          <a:prstGeom prst="roundRect">
            <a:avLst>
              <a:gd name="adj" fmla="val 5263"/>
            </a:avLst>
          </a:prstGeom>
          <a:solidFill>
            <a:srgbClr val="FCA5A5">
              <a:alpha val="50000"/>
            </a:srgbClr>
          </a:solidFill>
          <a:ln w="12700">
            <a:solidFill>
              <a:srgbClr val="FCA5A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761487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</a:rPr>
              <a:t>❌  Cons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0175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No querying / filtering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Breaks with multiple users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Slow with large history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No structure or 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DE68A">
              <a:alpha val="70000"/>
            </a:srgbClr>
          </a:solidFill>
          <a:ln w="12700">
            <a:solidFill>
              <a:srgbClr val="FDE68A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</a:rPr>
              <a:t>💡  JSON teaches you why structure matters — then we upgrade to a real database.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Move to a Real Database?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61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115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Multiple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435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Each user has their own isolated conversation history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24128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61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32120" y="1115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Query &amp; Filter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435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Retrieve last 10 messages, search by date, user ID, topic…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58568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3500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6700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Fast even with millions of messages — JSON breaks down fast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258568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23500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Data Integrity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6700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Types, constraints, transactions — no corrupted history files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493008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 smtClean="0">
                <a:solidFill>
                  <a:srgbClr val="000000"/>
                </a:solidFill>
              </a:rPr>
              <a:t>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584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Cloud Ready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9044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Deploy anywhere: Supabase, Railway, AWS RDS, Render…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493008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630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584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Production Standard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39044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PostgreSQL is used at every major tech company worldwide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</a:t>
            </a: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 Supabase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93C5FD">
              <a:alpha val="60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Why Supabase?  →  Free PostgreSQL in the cloud, visual dashboard, no local install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029200" cy="31089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91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chat_history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SERIAL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user_id     TEXT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        TEXT NOT NULL,  -- "user" or "assistant"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     TEXT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created_at  TIMESTAMP DEFAULT NOW()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Query last 10 messages for a user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role, 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chat_history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user_id = $1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BY created_at DESC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 10;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23560" y="1090077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69"/>
                </a:solidFill>
              </a:rPr>
              <a:t>Setup Steps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0" y="1440773"/>
            <a:ext cx="3017520" cy="530352"/>
          </a:xfrm>
          <a:prstGeom prst="roundRect">
            <a:avLst>
              <a:gd name="adj" fmla="val 17241"/>
            </a:avLst>
          </a:prstGeom>
          <a:solidFill>
            <a:srgbClr val="93C5FD">
              <a:alpha val="45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440773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1. Sign up at supabase.com (free)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080853"/>
            <a:ext cx="3017520" cy="530352"/>
          </a:xfrm>
          <a:prstGeom prst="roundRect">
            <a:avLst>
              <a:gd name="adj" fmla="val 17241"/>
            </a:avLst>
          </a:prstGeom>
          <a:solidFill>
            <a:srgbClr val="93C5FD">
              <a:alpha val="45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2080853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2. Create project → get connection URL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2665279"/>
            <a:ext cx="3017520" cy="530352"/>
          </a:xfrm>
          <a:prstGeom prst="roundRect">
            <a:avLst>
              <a:gd name="adj" fmla="val 17241"/>
            </a:avLst>
          </a:prstGeom>
          <a:solidFill>
            <a:srgbClr val="93C5FD">
              <a:alpha val="45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665279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3. Run CREATE TABLE in SQL editor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3251285"/>
            <a:ext cx="3017520" cy="749808"/>
          </a:xfrm>
          <a:prstGeom prst="roundRect">
            <a:avLst>
              <a:gd name="adj" fmla="val 17241"/>
            </a:avLst>
          </a:prstGeom>
          <a:solidFill>
            <a:srgbClr val="93C5FD">
              <a:alpha val="45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3313911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4. pip install </a:t>
            </a:r>
            <a:r>
              <a:rPr lang="en-US" sz="1100" dirty="0" smtClean="0">
                <a:solidFill>
                  <a:srgbClr val="2D1B69"/>
                </a:solidFill>
              </a:rPr>
              <a:t>psycopg2-binary</a:t>
            </a:r>
          </a:p>
          <a:p>
            <a:pPr marL="0" indent="0">
              <a:buNone/>
            </a:pPr>
            <a:endParaRPr lang="en-US" sz="1100" dirty="0" smtClean="0">
              <a:solidFill>
                <a:srgbClr val="2D1B69"/>
              </a:solidFill>
            </a:endParaRPr>
          </a:p>
          <a:p>
            <a:r>
              <a:rPr lang="en-US" sz="1100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it's the 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</a:rPr>
              <a:t>Python adapter/driver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 that lets Python talk to PostgreSQL </a:t>
            </a:r>
            <a:r>
              <a:rPr lang="en-US" sz="1100" dirty="0" smtClean="0">
                <a:solidFill>
                  <a:schemeClr val="accent1">
                    <a:lumMod val="50000"/>
                  </a:schemeClr>
                </a:solidFill>
              </a:rPr>
              <a:t>databases)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23560" y="4076481"/>
            <a:ext cx="3017520" cy="530352"/>
          </a:xfrm>
          <a:prstGeom prst="roundRect">
            <a:avLst>
              <a:gd name="adj" fmla="val 17241"/>
            </a:avLst>
          </a:prstGeom>
          <a:solidFill>
            <a:srgbClr val="93C5FD">
              <a:alpha val="45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4076481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5. Connect from Python &amp; insert rows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Python to Your Database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4920"/>
            <a:ext cx="5486400" cy="4077829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6008" y="984920"/>
            <a:ext cx="5196950" cy="3497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psycopg2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  = psycopg2.connect("YOUR_SUPABASE_URL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  </a:t>
            </a:r>
            <a:r>
              <a:rPr lang="en-US" sz="700" dirty="0" smtClean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800" dirty="0">
                <a:solidFill>
                  <a:srgbClr val="FFC000"/>
                </a:solidFill>
              </a:rPr>
              <a:t>Opens a connection to your </a:t>
            </a:r>
            <a:r>
              <a:rPr lang="en-US" sz="800" dirty="0" err="1">
                <a:solidFill>
                  <a:srgbClr val="FFC000"/>
                </a:solidFill>
              </a:rPr>
              <a:t>Supabase</a:t>
            </a:r>
            <a:r>
              <a:rPr lang="en-US" sz="800" dirty="0">
                <a:solidFill>
                  <a:srgbClr val="FFC000"/>
                </a:solidFill>
              </a:rPr>
              <a:t> PostgreSQL database</a:t>
            </a:r>
            <a:endParaRPr lang="en-US" sz="700" dirty="0">
              <a:solidFill>
                <a:srgbClr val="FFC000"/>
              </a:solidFill>
            </a:endParaRPr>
          </a:p>
          <a:p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   = </a:t>
            </a:r>
            <a:r>
              <a:rPr lang="en-US" sz="700" dirty="0" err="1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conn.cursor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</a:t>
            </a:r>
            <a:r>
              <a:rPr lang="en-US" sz="700" dirty="0" smtClean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800" dirty="0">
                <a:solidFill>
                  <a:srgbClr val="FFC000"/>
                </a:solidFill>
              </a:rPr>
              <a:t>Creates a </a:t>
            </a:r>
            <a:r>
              <a:rPr lang="en-US" sz="800" b="1" dirty="0">
                <a:solidFill>
                  <a:srgbClr val="FFC000"/>
                </a:solidFill>
              </a:rPr>
              <a:t>cursor</a:t>
            </a:r>
            <a:r>
              <a:rPr lang="en-US" sz="800" dirty="0">
                <a:solidFill>
                  <a:srgbClr val="FFC000"/>
                </a:solidFill>
              </a:rPr>
              <a:t> — the object you use to send SQL queries</a:t>
            </a:r>
            <a:endParaRPr lang="en-US" sz="7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OpenAI()  # uses OPENAI_API_KEY env var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save_message(user_id, role, content):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cur.execute(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"INSERT INTO chat_history (user_id, role, content)",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"VALUES (%s, %s, %s)",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(user_id, role, content)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00" dirty="0"/>
          </a:p>
          <a:p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 err="1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conn.commit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</a:t>
            </a:r>
            <a:r>
              <a:rPr lang="en-US" sz="700" dirty="0" smtClean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800" dirty="0">
                <a:solidFill>
                  <a:srgbClr val="FFC000"/>
                </a:solidFill>
              </a:rPr>
              <a:t>actually </a:t>
            </a:r>
            <a:r>
              <a:rPr lang="en-US" sz="800" b="1" dirty="0">
                <a:solidFill>
                  <a:srgbClr val="FFC000"/>
                </a:solidFill>
              </a:rPr>
              <a:t>saves</a:t>
            </a:r>
            <a:r>
              <a:rPr lang="en-US" sz="800" dirty="0">
                <a:solidFill>
                  <a:srgbClr val="FFC000"/>
                </a:solidFill>
              </a:rPr>
              <a:t> the change to the DB</a:t>
            </a:r>
            <a:endParaRPr lang="en-US" sz="7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sz="700" dirty="0" smtClean="0"/>
          </a:p>
          <a:p>
            <a:r>
              <a:rPr lang="en-US" sz="800" dirty="0" smtClean="0">
                <a:solidFill>
                  <a:srgbClr val="FFC000"/>
                </a:solidFill>
              </a:rPr>
              <a:t># </a:t>
            </a:r>
            <a:r>
              <a:rPr lang="en-US" sz="900" dirty="0" err="1">
                <a:solidFill>
                  <a:srgbClr val="FFC000"/>
                </a:solidFill>
              </a:rPr>
              <a:t>load_history</a:t>
            </a:r>
            <a:r>
              <a:rPr lang="en-US" sz="900" dirty="0">
                <a:solidFill>
                  <a:srgbClr val="FFC000"/>
                </a:solidFill>
              </a:rPr>
              <a:t>() — Fetching past </a:t>
            </a:r>
            <a:r>
              <a:rPr lang="en-US" sz="900" dirty="0" smtClean="0">
                <a:solidFill>
                  <a:srgbClr val="FFC000"/>
                </a:solidFill>
              </a:rPr>
              <a:t>messages: </a:t>
            </a:r>
            <a:r>
              <a:rPr lang="en-US" sz="900" dirty="0">
                <a:solidFill>
                  <a:srgbClr val="FFC000"/>
                </a:solidFill>
              </a:rPr>
              <a:t>This retrieves the </a:t>
            </a:r>
            <a:r>
              <a:rPr lang="en-US" sz="900" b="1" dirty="0">
                <a:solidFill>
                  <a:srgbClr val="FFC000"/>
                </a:solidFill>
              </a:rPr>
              <a:t>last N messages</a:t>
            </a:r>
            <a:r>
              <a:rPr lang="en-US" sz="900" dirty="0">
                <a:solidFill>
                  <a:srgbClr val="FFC000"/>
                </a:solidFill>
              </a:rPr>
              <a:t> for a </a:t>
            </a:r>
            <a:r>
              <a:rPr lang="en-US" sz="900" dirty="0" smtClean="0">
                <a:solidFill>
                  <a:srgbClr val="FFC000"/>
                </a:solidFill>
              </a:rPr>
              <a:t>user</a:t>
            </a:r>
          </a:p>
          <a:p>
            <a:endParaRPr lang="en-US" sz="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load_history(user_id, limit=10):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cur.execute(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"SELECT role, content FROM chat_history"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 WHERE user_id=%s ORDER BY created_at LIMIT %s",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(user_id, limit)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[{"role": r, "content": c} for r, c in cur.fetchall()]</a:t>
            </a:r>
            <a:endParaRPr lang="en-US" sz="700" dirty="0"/>
          </a:p>
          <a:p>
            <a:r>
              <a:rPr lang="en-US" sz="800" b="1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900" b="1" dirty="0">
                <a:solidFill>
                  <a:srgbClr val="92D050"/>
                </a:solidFill>
              </a:rPr>
              <a:t>The main function tying it all </a:t>
            </a:r>
            <a:r>
              <a:rPr lang="en-US" sz="900" b="1" dirty="0" smtClean="0">
                <a:solidFill>
                  <a:srgbClr val="92D050"/>
                </a:solidFill>
              </a:rPr>
              <a:t>together</a:t>
            </a:r>
            <a:endParaRPr lang="en-US" sz="800" b="1" dirty="0" smtClean="0">
              <a:solidFill>
                <a:srgbClr val="92D050"/>
              </a:solidFill>
            </a:endParaRPr>
          </a:p>
          <a:p>
            <a:endParaRPr lang="en-US" sz="700" dirty="0"/>
          </a:p>
          <a:p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chat(user_id, </a:t>
            </a:r>
            <a:r>
              <a:rPr lang="en-US" sz="700" dirty="0" err="1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user_input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 </a:t>
            </a:r>
            <a:endParaRPr lang="en-US" sz="800" dirty="0" smtClean="0">
              <a:solidFill>
                <a:srgbClr val="92D050"/>
              </a:solidFill>
            </a:endParaRPr>
          </a:p>
          <a:p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 err="1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save_message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"user", </a:t>
            </a:r>
            <a:r>
              <a:rPr lang="en-US" sz="700" dirty="0" err="1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user_input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800" dirty="0" smtClean="0">
                <a:solidFill>
                  <a:srgbClr val="92D050"/>
                </a:solidFill>
              </a:rPr>
              <a:t># 1. Save user's message</a:t>
            </a:r>
            <a:endParaRPr lang="en-US" sz="700" dirty="0" smtClean="0">
              <a:solidFill>
                <a:srgbClr val="92D050"/>
              </a:solidFill>
            </a:endParaRPr>
          </a:p>
          <a:p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</a:t>
            </a:r>
            <a:r>
              <a:rPr lang="en-US" sz="700" dirty="0" err="1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load_history</a:t>
            </a: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00" dirty="0" err="1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</a:t>
            </a:r>
            <a:r>
              <a:rPr lang="en-US" sz="800" dirty="0" smtClean="0">
                <a:solidFill>
                  <a:srgbClr val="92D050"/>
                </a:solidFill>
              </a:rPr>
              <a:t># </a:t>
            </a:r>
            <a:r>
              <a:rPr lang="en-US" sz="800" dirty="0">
                <a:solidFill>
                  <a:srgbClr val="92D050"/>
                </a:solidFill>
              </a:rPr>
              <a:t>2. Load full conversation</a:t>
            </a:r>
            <a:endParaRPr lang="en-US" sz="700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client.chat.completions.create(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model="gpt-4o",</a:t>
            </a:r>
            <a:endParaRPr lang="en-US" sz="700" dirty="0"/>
          </a:p>
          <a:p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messages=history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800" dirty="0">
                <a:solidFill>
                  <a:srgbClr val="92D050"/>
                </a:solidFill>
              </a:rPr>
              <a:t># 3. Send history to GPT</a:t>
            </a:r>
            <a:endParaRPr lang="en-US" sz="700" dirty="0">
              <a:solidFill>
                <a:srgbClr val="92D050"/>
              </a:solidFill>
            </a:endParaRPr>
          </a:p>
          <a:p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response.choices[0].</a:t>
            </a:r>
            <a:r>
              <a:rPr lang="en-US" sz="700" dirty="0" err="1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message.content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>
                <a:solidFill>
                  <a:srgbClr val="92D050"/>
                </a:solidFill>
              </a:rPr>
              <a:t># 4. Extract reply text</a:t>
            </a:r>
            <a:endParaRPr lang="en-US" sz="700" dirty="0">
              <a:solidFill>
                <a:srgbClr val="92D050"/>
              </a:solidFill>
            </a:endParaRPr>
          </a:p>
          <a:p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save_message(user_id, "assistant", reply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800" dirty="0">
                <a:solidFill>
                  <a:srgbClr val="92D050"/>
                </a:solidFill>
              </a:rPr>
              <a:t># 5. Save GPT's reply</a:t>
            </a:r>
            <a:endParaRPr lang="en-US" sz="700" dirty="0">
              <a:solidFill>
                <a:srgbClr val="92D050"/>
              </a:solidFill>
            </a:endParaRPr>
          </a:p>
          <a:p>
            <a:r>
              <a:rPr lang="en-US" sz="7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700" dirty="0" smtClean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                 </a:t>
            </a:r>
            <a:r>
              <a:rPr lang="en-US" sz="800" dirty="0">
                <a:solidFill>
                  <a:srgbClr val="92D050"/>
                </a:solidFill>
              </a:rPr>
              <a:t># 6. Return it to caller</a:t>
            </a:r>
            <a:endParaRPr lang="en-US" sz="700" dirty="0">
              <a:solidFill>
                <a:srgbClr val="92D05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2606040" cy="438912"/>
          </a:xfrm>
          <a:prstGeom prst="roundRect">
            <a:avLst>
              <a:gd name="adj" fmla="val 20833"/>
            </a:avLst>
          </a:prstGeom>
          <a:solidFill>
            <a:srgbClr val="93C5FD">
              <a:alpha val="55000"/>
            </a:srgbClr>
          </a:solidFill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28016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🔌  One connection reused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606040" cy="438912"/>
          </a:xfrm>
          <a:prstGeom prst="roundRect">
            <a:avLst>
              <a:gd name="adj" fmla="val 20833"/>
            </a:avLst>
          </a:prstGeom>
          <a:solidFill>
            <a:srgbClr val="93C5FD">
              <a:alpha val="55000"/>
            </a:srgbClr>
          </a:solidFill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20574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💾  Every message saved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880360"/>
            <a:ext cx="2606040" cy="438912"/>
          </a:xfrm>
          <a:prstGeom prst="roundRect">
            <a:avLst>
              <a:gd name="adj" fmla="val 20833"/>
            </a:avLst>
          </a:prstGeom>
          <a:solidFill>
            <a:srgbClr val="93C5FD">
              <a:alpha val="55000"/>
            </a:srgbClr>
          </a:solidFill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88036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📂  History loaded per user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2606040" cy="438912"/>
          </a:xfrm>
          <a:prstGeom prst="roundRect">
            <a:avLst>
              <a:gd name="adj" fmla="val 20833"/>
            </a:avLst>
          </a:prstGeom>
          <a:solidFill>
            <a:srgbClr val="93C5FD">
              <a:alpha val="55000"/>
            </a:srgbClr>
          </a:solidFill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7033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D1B69"/>
                </a:solidFill>
              </a:rPr>
              <a:t>Full </a:t>
            </a:r>
            <a:r>
              <a:rPr lang="en-US" sz="1100" dirty="0">
                <a:solidFill>
                  <a:srgbClr val="2D1B69"/>
                </a:solidFill>
              </a:rPr>
              <a:t>chat + save in one function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365760"/>
            <a:ext cx="2286000" cy="2286000"/>
          </a:xfrm>
          <a:prstGeom prst="ellipse">
            <a:avLst/>
          </a:prstGeom>
          <a:solidFill>
            <a:srgbClr val="6EE7B7">
              <a:alpha val="40000"/>
            </a:srgbClr>
          </a:solidFill>
          <a:ln w="12700">
            <a:solidFill>
              <a:srgbClr val="6EE7B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840480"/>
            <a:ext cx="1828800" cy="1828800"/>
          </a:xfrm>
          <a:prstGeom prst="ellipse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47472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6EE7B7">
              <a:alpha val="80000"/>
            </a:srgbClr>
          </a:solidFill>
          <a:ln w="12700">
            <a:solidFill>
              <a:srgbClr val="6EE7B7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47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</a:rPr>
              <a:t>ADVANCED MODULE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— Retrieval Augmented Generation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(RAG)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4F7A"/>
                </a:solidFill>
              </a:rPr>
              <a:t>"What if your chatbot could answer questions about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5B4F7A"/>
                </a:solidFill>
              </a:rPr>
              <a:t>your own documents, manuals, or knowledge base?"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2377440" cy="1508760"/>
          </a:xfrm>
          <a:prstGeom prst="roundRect">
            <a:avLst>
              <a:gd name="adj" fmla="val 848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Your Documents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4F7A"/>
                </a:solidFill>
              </a:rPr>
              <a:t>PDFs, text files, knowledge base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7248" y="37033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8BFA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4720" y="3154680"/>
            <a:ext cx="2377440" cy="1508760"/>
          </a:xfrm>
          <a:prstGeom prst="roundRect">
            <a:avLst>
              <a:gd name="adj" fmla="val 848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747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Semantic 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4F7A"/>
                </a:solidFill>
              </a:rPr>
              <a:t>Find relevant chunks by meaning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70448" y="37033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8BFA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3154680"/>
            <a:ext cx="2377440" cy="1508760"/>
          </a:xfrm>
          <a:prstGeom prst="roundRect">
            <a:avLst>
              <a:gd name="adj" fmla="val 848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AI Answers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4F7A"/>
                </a:solidFill>
              </a:rPr>
              <a:t>LLM answers using retrieved context</a:t>
            </a:r>
            <a:endParaRPr lang="en-US" sz="1000" dirty="0"/>
          </a:p>
        </p:txBody>
      </p:sp>
      <p:sp>
        <p:nvSpPr>
          <p:cNvPr id="23" name="5-Point Star 22"/>
          <p:cNvSpPr/>
          <p:nvPr/>
        </p:nvSpPr>
        <p:spPr>
          <a:xfrm>
            <a:off x="7308622" y="3387885"/>
            <a:ext cx="190774" cy="177617"/>
          </a:xfrm>
          <a:prstGeom prst="star5">
            <a:avLst/>
          </a:prstGeom>
          <a:solidFill>
            <a:schemeClr val="accent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RAG Works — Step by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25400">
            <a:solidFill>
              <a:srgbClr val="6EE7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6EE7B7">
              <a:alpha val="30000"/>
            </a:srgbClr>
          </a:solidFill>
          <a:ln w="12700">
            <a:solidFill>
              <a:srgbClr val="6EE7B7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</a:rPr>
              <a:t>🔧  INDEXING PHASE  (once)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EE7B7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1. Load your documents (PDFs, text…)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EE7B7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2. Split into small chunks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EE7B7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80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3. Create embeddings (vector numbers)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EE7B7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4. Store in a vector database (ChromaDB)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987552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93C5FD">
              <a:alpha val="30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</a:rPr>
              <a:t>💬  QUERY PHASE  (every chat)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50876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508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1. User asks a question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19456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2. Convert question to embedding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88036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880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3. Find most similar chunks in 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56616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3C5FD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4. Send chunks + question to LLM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2468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⟶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19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494" y="46313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2D1B69"/>
                </a:solidFill>
              </a:rPr>
              <a:t>🛠 </a:t>
            </a:r>
            <a:r>
              <a:rPr lang="en-US" sz="1100" dirty="0">
                <a:solidFill>
                  <a:srgbClr val="2D1B69"/>
                </a:solidFill>
              </a:rPr>
              <a:t>Tools:  ChromaDB (vector DB)  •  sentence-transformers (embeddings)  •  LangChain (optional framework)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— Minimal Code Sketch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25400">
            <a:solidFill>
              <a:srgbClr val="6EE7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5669280" cy="3977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51560"/>
            <a:ext cx="5440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chromadb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SentenceTransformer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= SentenceTransformer("all-MiniLM-L6-v2")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chromadb.Client()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   = client.create_collection("docs")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INDEXING (run once) 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["Our return policy is 30 days.",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"We ship worldwide with DHL.",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"Support is available 24/7."]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model.encode(docs).tolist()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col.add(documents=docs, embeddings=embeddings,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ids=["d1","d2","d3"])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QUERYING (each chat turn) 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= "How do I return an item?"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q_embed  = model.encode([question]).tolist()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 = col.query(query_embeddings=q_embed, n_results=2)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 = " ".join(results["documents"][0])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f"Context: {context}\nQuestion: {question}"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Send prompt to your LLM as normal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6EE7B7">
              <a:alpha val="50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234440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1B69"/>
                </a:solidFill>
              </a:rPr>
              <a:t>📦  Install: pip install chromadb sentence-transformers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6EE7B7">
              <a:alpha val="50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11680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1B69"/>
                </a:solidFill>
              </a:rPr>
              <a:t>🔢  Embeddings turn text into vectors of numbers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2880360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6EE7B7">
              <a:alpha val="50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880360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1B69"/>
                </a:solidFill>
              </a:rPr>
              <a:t>🗄️  ChromaDB stores &amp; searches by vector similarity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3749040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6EE7B7">
              <a:alpha val="50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749040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1B69"/>
                </a:solidFill>
              </a:rPr>
              <a:t>📝  Inject found chunks into your LLM prompt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Resources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91440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87552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06070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Session Memory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3990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OpenAI Docs → Chat Completions API (multi-turn)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6550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platform.openai.com/docs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91440" cy="10515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2860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93C5FD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3591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PostgreSQL / Supabase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supabase.com → quickstart 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9535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PostgreSQL Tutorial → postgresqltutorial.com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91440" cy="10515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584448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6EE7B7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5935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</a:rPr>
              <a:t>RAG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84307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LangChain RAG Tutorial → python.langchain.com/docs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9911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Pinecone Learning Center → pinecone.io/learn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5514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7A"/>
                </a:solidFill>
              </a:rPr>
              <a:t>• ChromaDB Docs → docs.trychroma.com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2286000" cy="2286000"/>
          </a:xfrm>
          <a:prstGeom prst="ellipse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6EE7B7">
              <a:alpha val="40000"/>
            </a:srgbClr>
          </a:solidFill>
          <a:ln w="12700">
            <a:solidFill>
              <a:srgbClr val="6EE7B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smtClean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</a:t>
            </a:r>
            <a:r>
              <a:rPr lang="en-US" sz="30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011680" cy="3520440"/>
          </a:xfrm>
          <a:prstGeom prst="roundRect">
            <a:avLst>
              <a:gd name="adj" fmla="val 681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051560"/>
            <a:ext cx="640080" cy="64008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801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Session Memory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A78BFA">
              <a:alpha val="6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2D1B69"/>
                </a:solidFill>
              </a:rPr>
              <a:t>30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26700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Break chatbot — 'what did I say?'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" y="3200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Add messages list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" y="373075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Test multi-turn conversation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41448" y="987552"/>
            <a:ext cx="2011680" cy="3520440"/>
          </a:xfrm>
          <a:prstGeom prst="roundRect">
            <a:avLst>
              <a:gd name="adj" fmla="val 681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DE68A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27248" y="1051560"/>
            <a:ext cx="640080" cy="640080"/>
          </a:xfrm>
          <a:prstGeom prst="ellipse">
            <a:avLst/>
          </a:prstGeom>
          <a:solidFill>
            <a:srgbClr val="FDE68A">
              <a:alpha val="80000"/>
            </a:srgbClr>
          </a:solidFill>
          <a:ln w="12700">
            <a:solidFill>
              <a:srgbClr val="FDE68A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</a:rPr>
              <a:t>2a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32888" y="1801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JSON Persistence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15768" y="2267712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FDE68A">
              <a:alpha val="65000"/>
            </a:srgbClr>
          </a:solidFill>
          <a:ln w="12700">
            <a:solidFill>
              <a:srgbClr val="FDE68A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5768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2D1B69"/>
                </a:solidFill>
              </a:rPr>
              <a:t>30 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51176" y="26700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Save messages to file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51176" y="3200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Load on startup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51176" y="373075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Notice the limitations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54296" y="987552"/>
            <a:ext cx="2011680" cy="3520440"/>
          </a:xfrm>
          <a:prstGeom prst="roundRect">
            <a:avLst>
              <a:gd name="adj" fmla="val 681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93C5FD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0096" y="1051560"/>
            <a:ext cx="640080" cy="640080"/>
          </a:xfrm>
          <a:prstGeom prst="ellipse">
            <a:avLst/>
          </a:prstGeom>
          <a:solidFill>
            <a:srgbClr val="93C5FD">
              <a:alpha val="80000"/>
            </a:srgbClr>
          </a:solidFill>
          <a:ln w="12700">
            <a:solidFill>
              <a:srgbClr val="93C5FD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0096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</a:rPr>
              <a:t>2b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45736" y="1801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PostgreSQL (Supabase)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28616" y="2267712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93C5FD">
              <a:alpha val="65000"/>
            </a:srgbClr>
          </a:solidFill>
          <a:ln w="12700">
            <a:solidFill>
              <a:srgbClr val="93C5FD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2D1B69"/>
                </a:solidFill>
              </a:rPr>
              <a:t>30 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64024" y="26700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Create Supabase project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64024" y="3200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Design chat_history table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64024" y="373075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Connect Python + Gradio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67144" y="987552"/>
            <a:ext cx="2011680" cy="3520440"/>
          </a:xfrm>
          <a:prstGeom prst="roundRect">
            <a:avLst>
              <a:gd name="adj" fmla="val 681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6EE7B7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52944" y="1051560"/>
            <a:ext cx="640080" cy="640080"/>
          </a:xfrm>
          <a:prstGeom prst="ellipse">
            <a:avLst/>
          </a:prstGeom>
          <a:solidFill>
            <a:srgbClr val="6EE7B7">
              <a:alpha val="80000"/>
            </a:srgbClr>
          </a:solidFill>
          <a:ln w="12700">
            <a:solidFill>
              <a:srgbClr val="6EE7B7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58584" y="1801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RAG Chatbot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41464" y="2267712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6EE7B7">
              <a:alpha val="65000"/>
            </a:srgbClr>
          </a:solidFill>
          <a:ln w="12700">
            <a:solidFill>
              <a:srgbClr val="6EE7B7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41464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2D1B69"/>
                </a:solidFill>
              </a:rPr>
              <a:t>Capstone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76872" y="26700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Index your own docs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76872" y="3200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Vector search with ChromaDB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76872" y="373075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7A"/>
                </a:solidFill>
              </a:rPr>
              <a:t>✓  Full knowledge-base chatbot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8056" y="4632456"/>
            <a:ext cx="8412480" cy="347472"/>
          </a:xfrm>
          <a:prstGeom prst="roundRect">
            <a:avLst>
              <a:gd name="adj" fmla="val 26316"/>
            </a:avLst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636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B69"/>
                </a:solidFill>
              </a:rPr>
              <a:t>💡  Each stage teaches WHY before HOW — students feel the pain before you give them the solution.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1956</Words>
  <Application>Microsoft Office PowerPoint</Application>
  <PresentationFormat>On-screen Show (16:9)</PresentationFormat>
  <Paragraphs>361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Smarter Chatbots</dc:title>
  <dc:subject>PptxGenJS Presentation</dc:subject>
  <dc:creator>PptxGenJS</dc:creator>
  <cp:lastModifiedBy>User</cp:lastModifiedBy>
  <cp:revision>12</cp:revision>
  <dcterms:created xsi:type="dcterms:W3CDTF">2026-05-15T23:57:27Z</dcterms:created>
  <dcterms:modified xsi:type="dcterms:W3CDTF">2026-05-23T04:36:15Z</dcterms:modified>
</cp:coreProperties>
</file>