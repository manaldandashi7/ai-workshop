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4" r:id="rId9"/>
    <p:sldId id="272" r:id="rId10"/>
    <p:sldId id="273" r:id="rId11"/>
    <p:sldId id="270" r:id="rId12"/>
    <p:sldId id="262" r:id="rId13"/>
    <p:sldId id="263" r:id="rId14"/>
    <p:sldId id="275" r:id="rId15"/>
    <p:sldId id="276" r:id="rId16"/>
    <p:sldId id="264" r:id="rId17"/>
    <p:sldId id="265" r:id="rId18"/>
    <p:sldId id="266" r:id="rId19"/>
    <p:sldId id="267" r:id="rId20"/>
    <p:sldId id="268" r:id="rId21"/>
    <p:sldId id="26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9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33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40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09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48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79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47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49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377440"/>
            <a:ext cx="2926080" cy="2926080"/>
          </a:xfrm>
          <a:prstGeom prst="ellipse">
            <a:avLst/>
          </a:prstGeom>
          <a:solidFill>
            <a:srgbClr val="9D4EDD">
              <a:alpha val="10000"/>
            </a:srgbClr>
          </a:solidFill>
          <a:ln w="10160">
            <a:solidFill>
              <a:srgbClr val="9D4E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6304"/>
            <a:ext cx="1170432" cy="274320"/>
          </a:xfrm>
          <a:prstGeom prst="roundRect">
            <a:avLst>
              <a:gd name="adj" fmla="val 13333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6858000" cy="1097280"/>
          </a:xfrm>
          <a:prstGeom prst="rect">
            <a:avLst/>
          </a:prstGeom>
          <a:noFill/>
          <a:ln/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2004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working chatbot using Python &amp; OpenAI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</a:rPr>
              <a:t>⏱  3–4 hours  </a:t>
            </a:r>
            <a:r>
              <a:rPr lang="en-US" sz="1200" dirty="0">
                <a:solidFill>
                  <a:srgbClr val="8FA8BE"/>
                </a:solidFill>
              </a:rPr>
              <a:t>  |  </a:t>
            </a:r>
            <a:r>
              <a:rPr lang="en-US" sz="1200" dirty="0">
                <a:solidFill>
                  <a:srgbClr val="5A7A96"/>
                </a:solidFill>
              </a:rPr>
              <a:t>  🐍  Python Basics Required  </a:t>
            </a:r>
            <a:r>
              <a:rPr lang="en-US" sz="1200" dirty="0">
                <a:solidFill>
                  <a:srgbClr val="8FA8BE"/>
                </a:solidFill>
              </a:rPr>
              <a:t>  |  </a:t>
            </a:r>
            <a:r>
              <a:rPr lang="en-US" sz="1200" dirty="0">
                <a:solidFill>
                  <a:srgbClr val="5A7A96"/>
                </a:solidFill>
              </a:rPr>
              <a:t>  OpenAI API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37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FF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527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" y="20939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behind the magic — no math, just concepts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9D4EDD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4114800" cy="4572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2527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D4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3752" y="1737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API Keys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73752" y="20939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environment, OpenAI library, your first API 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E676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1148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358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38912" y="3520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Chatbot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8912" y="38770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conversation history, personality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D0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26080"/>
            <a:ext cx="4114800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358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873752" y="3520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73752" y="38770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own: study assistant, FAQ bot, or recipe helper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37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Large Language Model?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6476" y="1360810"/>
            <a:ext cx="7117848" cy="1040311"/>
          </a:xfrm>
          <a:prstGeom prst="rect">
            <a:avLst/>
          </a:prstGeom>
          <a:solidFill>
            <a:srgbClr val="EEF4FA"/>
          </a:solidFill>
          <a:ln w="15240">
            <a:solidFill>
              <a:srgbClr val="00E5FF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03214" y="1360810"/>
            <a:ext cx="6888240" cy="1040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program that learned the patterns of human language by reading massive amounts of text — and can now generate new text that sounds human.</a:t>
            </a:r>
            <a:endParaRPr lang="en-US" sz="1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046476" y="2544137"/>
            <a:ext cx="4722069" cy="1389888"/>
            <a:chOff x="327803" y="3239081"/>
            <a:chExt cx="4722069" cy="1389888"/>
          </a:xfrm>
        </p:grpSpPr>
        <p:sp>
          <p:nvSpPr>
            <p:cNvPr id="6" name="Shape 4"/>
            <p:cNvSpPr/>
            <p:nvPr/>
          </p:nvSpPr>
          <p:spPr>
            <a:xfrm>
              <a:off x="327803" y="3239081"/>
              <a:ext cx="3829757" cy="1389888"/>
            </a:xfrm>
            <a:prstGeom prst="rect">
              <a:avLst/>
            </a:prstGeom>
            <a:solidFill>
              <a:srgbClr val="EBF7F0"/>
            </a:solidFill>
            <a:ln w="12700">
              <a:solidFill>
                <a:srgbClr val="00E676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483251" y="3357953"/>
              <a:ext cx="456662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E67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Key insight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83251" y="3604841"/>
              <a:ext cx="4478801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chemeClr val="accent3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 doesn't think. It doesn't know facts.</a:t>
              </a:r>
              <a:endParaRPr lang="en-US" sz="1150" dirty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0" indent="0">
                <a:buNone/>
              </a:pPr>
              <a:r>
                <a:rPr lang="en-US" sz="1150" dirty="0">
                  <a:solidFill>
                    <a:schemeClr val="accent3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 predicts the next most likely word, over and over.</a:t>
              </a:r>
              <a:endParaRPr lang="en-US" sz="1150" dirty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0" indent="0">
                <a:buNone/>
              </a:pPr>
              <a:r>
                <a:rPr lang="en-US" sz="1150" dirty="0">
                  <a:solidFill>
                    <a:schemeClr val="accent3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Everything else is a side effect of doing that extremely well.</a:t>
              </a:r>
              <a:endParaRPr lang="en-US" sz="1150" dirty="0">
                <a:solidFill>
                  <a:schemeClr val="accent3">
                    <a:lumMod val="75000"/>
                  </a:schemeClr>
                </a:solidFill>
              </a:endParaRPr>
            </a:p>
            <a:p>
              <a:pPr marL="0" indent="0">
                <a:buNone/>
              </a:pPr>
              <a:r>
                <a:rPr lang="en-US" sz="1150" dirty="0">
                  <a:solidFill>
                    <a:schemeClr val="accent3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 is not magic — it's math, very impressive math.</a:t>
              </a:r>
              <a:endParaRPr lang="en-US" sz="115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85644" y="2544137"/>
            <a:ext cx="3246120" cy="1389888"/>
            <a:chOff x="5585603" y="3239081"/>
            <a:chExt cx="3246120" cy="1389888"/>
          </a:xfrm>
        </p:grpSpPr>
        <p:sp>
          <p:nvSpPr>
            <p:cNvPr id="9" name="Shape 7"/>
            <p:cNvSpPr/>
            <p:nvPr/>
          </p:nvSpPr>
          <p:spPr>
            <a:xfrm>
              <a:off x="5585603" y="3239081"/>
              <a:ext cx="3246120" cy="1389888"/>
            </a:xfrm>
            <a:prstGeom prst="rect">
              <a:avLst/>
            </a:prstGeom>
            <a:solidFill>
              <a:srgbClr val="FFF0F6"/>
            </a:solidFill>
            <a:ln w="12700">
              <a:solidFill>
                <a:srgbClr val="9D4EDD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5741051" y="3312233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D4E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Applications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741051" y="3604841"/>
              <a:ext cx="292608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accent3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These models are the brains behind a lot of the cool AI stuff happening right now, like chatbots that can hold surprisingly human-like conversations, tools that can write articles…</a:t>
              </a:r>
              <a:endParaRPr lang="en-US" sz="105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37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an LLM Predict?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1470276" y="4379976"/>
            <a:ext cx="6400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5D0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12394" y="4379976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the next most likely word, over and over.</a:t>
            </a:r>
            <a:endParaRPr lang="en-US" sz="12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959" y="1018137"/>
            <a:ext cx="5777260" cy="3225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Works &amp; Processes Your Text?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you send goes through these 5 steps</a:t>
            </a:r>
            <a:endParaRPr lang="en-US" sz="12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554" y="1068260"/>
            <a:ext cx="4489473" cy="3734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6" name="Shape 0"/>
          <p:cNvSpPr/>
          <p:nvPr/>
        </p:nvSpPr>
        <p:spPr>
          <a:xfrm>
            <a:off x="457200" y="228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7" name="Text 1"/>
          <p:cNvSpPr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3600" dirty="0"/>
          </a:p>
        </p:txBody>
      </p:sp>
      <p:sp>
        <p:nvSpPr>
          <p:cNvPr id="9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Numbers. Computers only understand numbers — tokens are the bridge.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658368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417320" y="15727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KING ATE THE APPLE"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572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Split into tokens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57200" y="2423160"/>
            <a:ext cx="1188720" cy="658368"/>
          </a:xfrm>
          <a:prstGeom prst="roundRect">
            <a:avLst>
              <a:gd name="adj" fmla="val 1388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2459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57200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1996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1847088" y="2423160"/>
            <a:ext cx="1188720" cy="658368"/>
          </a:xfrm>
          <a:prstGeom prst="roundRect">
            <a:avLst>
              <a:gd name="adj" fmla="val 1388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847088" y="2459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847088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3573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236976" y="2423160"/>
            <a:ext cx="1188720" cy="658368"/>
          </a:xfrm>
          <a:prstGeom prst="roundRect">
            <a:avLst>
              <a:gd name="adj" fmla="val 1388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236976" y="2459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236976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8388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4626864" y="2423160"/>
            <a:ext cx="1188720" cy="658368"/>
          </a:xfrm>
          <a:prstGeom prst="roundRect">
            <a:avLst>
              <a:gd name="adj" fmla="val 1388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626864" y="2459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626864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1996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6016752" y="2423160"/>
            <a:ext cx="1188720" cy="658368"/>
          </a:xfrm>
          <a:prstGeom prst="roundRect">
            <a:avLst>
              <a:gd name="adj" fmla="val 13889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016752" y="2459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016752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6015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57200" y="3246120"/>
            <a:ext cx="8229600" cy="15727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685800" y="33192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85800" y="37033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14400" y="36576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letters — only token IDs (numbers)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85800" y="40325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14400" y="39867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sub-word chunks, not always full words  (e.g. "unhappiness" → ["un", "happi", "ness"])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85800" y="436168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14400" y="4315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LLMs struggle to count letters or spell backwards!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3" name="Shape 0"/>
          <p:cNvSpPr/>
          <p:nvPr/>
        </p:nvSpPr>
        <p:spPr>
          <a:xfrm>
            <a:off x="457200" y="228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"/>
          <p:cNvSpPr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3600" dirty="0"/>
          </a:p>
        </p:txBody>
      </p:sp>
      <p:sp>
        <p:nvSpPr>
          <p:cNvPr id="16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ID gets a rich meaning — a list of hundreds of numbers called a vector.</a:t>
            </a:r>
            <a:endParaRPr lang="en-US" sz="1300" dirty="0"/>
          </a:p>
        </p:txBody>
      </p:sp>
      <p:sp>
        <p:nvSpPr>
          <p:cNvPr id="17" name="Shape 4"/>
          <p:cNvSpPr/>
          <p:nvPr/>
        </p:nvSpPr>
        <p:spPr>
          <a:xfrm>
            <a:off x="457200" y="1572768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5"/>
          <p:cNvSpPr/>
          <p:nvPr/>
        </p:nvSpPr>
        <p:spPr>
          <a:xfrm>
            <a:off x="457200" y="15727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19" name="Text 6"/>
          <p:cNvSpPr/>
          <p:nvPr/>
        </p:nvSpPr>
        <p:spPr>
          <a:xfrm>
            <a:off x="1325880" y="157276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7"/>
          <p:cNvSpPr/>
          <p:nvPr/>
        </p:nvSpPr>
        <p:spPr>
          <a:xfrm>
            <a:off x="1645920" y="15727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[0.12,  -0.30,  0.05,  ...]</a:t>
            </a:r>
            <a:endParaRPr lang="en-US" sz="1100" dirty="0"/>
          </a:p>
        </p:txBody>
      </p:sp>
      <p:sp>
        <p:nvSpPr>
          <p:cNvPr id="21" name="Shape 8"/>
          <p:cNvSpPr/>
          <p:nvPr/>
        </p:nvSpPr>
        <p:spPr>
          <a:xfrm>
            <a:off x="457200" y="2194560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9"/>
          <p:cNvSpPr/>
          <p:nvPr/>
        </p:nvSpPr>
        <p:spPr>
          <a:xfrm>
            <a:off x="457200" y="21945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100" dirty="0"/>
          </a:p>
        </p:txBody>
      </p:sp>
      <p:sp>
        <p:nvSpPr>
          <p:cNvPr id="24" name="Text 10"/>
          <p:cNvSpPr/>
          <p:nvPr/>
        </p:nvSpPr>
        <p:spPr>
          <a:xfrm>
            <a:off x="1325880" y="21945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11"/>
          <p:cNvSpPr/>
          <p:nvPr/>
        </p:nvSpPr>
        <p:spPr>
          <a:xfrm>
            <a:off x="1645920" y="21945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[0.82,  0.71,  -0.40,  ...]</a:t>
            </a:r>
            <a:endParaRPr lang="en-US" sz="1100" dirty="0"/>
          </a:p>
        </p:txBody>
      </p:sp>
      <p:sp>
        <p:nvSpPr>
          <p:cNvPr id="26" name="Shape 12"/>
          <p:cNvSpPr/>
          <p:nvPr/>
        </p:nvSpPr>
        <p:spPr>
          <a:xfrm>
            <a:off x="457200" y="2816352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13"/>
          <p:cNvSpPr/>
          <p:nvPr/>
        </p:nvSpPr>
        <p:spPr>
          <a:xfrm>
            <a:off x="457200" y="2816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</a:t>
            </a:r>
            <a:endParaRPr lang="en-US" sz="1100" dirty="0"/>
          </a:p>
        </p:txBody>
      </p:sp>
      <p:sp>
        <p:nvSpPr>
          <p:cNvPr id="28" name="Text 14"/>
          <p:cNvSpPr/>
          <p:nvPr/>
        </p:nvSpPr>
        <p:spPr>
          <a:xfrm>
            <a:off x="13258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15"/>
          <p:cNvSpPr/>
          <p:nvPr/>
        </p:nvSpPr>
        <p:spPr>
          <a:xfrm>
            <a:off x="1645920" y="28163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[-0.20,  0.44,  0.61,  ...]</a:t>
            </a:r>
            <a:endParaRPr lang="en-US" sz="1100" dirty="0"/>
          </a:p>
        </p:txBody>
      </p:sp>
      <p:sp>
        <p:nvSpPr>
          <p:cNvPr id="30" name="Shape 16"/>
          <p:cNvSpPr/>
          <p:nvPr/>
        </p:nvSpPr>
        <p:spPr>
          <a:xfrm>
            <a:off x="457200" y="3438144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17"/>
          <p:cNvSpPr/>
          <p:nvPr/>
        </p:nvSpPr>
        <p:spPr>
          <a:xfrm>
            <a:off x="457200" y="34381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32" name="Text 18"/>
          <p:cNvSpPr/>
          <p:nvPr/>
        </p:nvSpPr>
        <p:spPr>
          <a:xfrm>
            <a:off x="1325880" y="343814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19"/>
          <p:cNvSpPr/>
          <p:nvPr/>
        </p:nvSpPr>
        <p:spPr>
          <a:xfrm>
            <a:off x="1645920" y="34381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[0.12,  -0.30,  0.05,  ...]</a:t>
            </a:r>
            <a:endParaRPr lang="en-US" sz="1100" dirty="0"/>
          </a:p>
        </p:txBody>
      </p:sp>
      <p:sp>
        <p:nvSpPr>
          <p:cNvPr id="34" name="Shape 20"/>
          <p:cNvSpPr/>
          <p:nvPr/>
        </p:nvSpPr>
        <p:spPr>
          <a:xfrm>
            <a:off x="457200" y="4059936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21"/>
          <p:cNvSpPr/>
          <p:nvPr/>
        </p:nvSpPr>
        <p:spPr>
          <a:xfrm>
            <a:off x="457200" y="405993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</p:txBody>
      </p:sp>
      <p:sp>
        <p:nvSpPr>
          <p:cNvPr id="36" name="Text 22"/>
          <p:cNvSpPr/>
          <p:nvPr/>
        </p:nvSpPr>
        <p:spPr>
          <a:xfrm>
            <a:off x="1325880" y="4059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23"/>
          <p:cNvSpPr/>
          <p:nvPr/>
        </p:nvSpPr>
        <p:spPr>
          <a:xfrm>
            <a:off x="1645920" y="40599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[0.55,  -0.60,  0.33,  ...]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5120640" y="150876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534924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in space</a:t>
            </a:r>
            <a:endParaRPr lang="en-US" sz="1200" dirty="0"/>
          </a:p>
        </p:txBody>
      </p:sp>
      <p:sp>
        <p:nvSpPr>
          <p:cNvPr id="40" name="Text 26"/>
          <p:cNvSpPr/>
          <p:nvPr/>
        </p:nvSpPr>
        <p:spPr>
          <a:xfrm>
            <a:off x="5349240" y="18470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and QUEEN end up with very similar vectors — the model groups them together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5120640" y="2679192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2" name="Text 28"/>
          <p:cNvSpPr/>
          <p:nvPr/>
        </p:nvSpPr>
        <p:spPr>
          <a:xfrm>
            <a:off x="534924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matters</a:t>
            </a:r>
            <a:endParaRPr lang="en-US" sz="1200" dirty="0"/>
          </a:p>
        </p:txBody>
      </p:sp>
      <p:sp>
        <p:nvSpPr>
          <p:cNvPr id="43" name="Text 29"/>
          <p:cNvSpPr/>
          <p:nvPr/>
        </p:nvSpPr>
        <p:spPr>
          <a:xfrm>
            <a:off x="5349240" y="30175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 near "river" → different vector than "bank" near "money"</a:t>
            </a:r>
            <a:endParaRPr lang="en-US" sz="1100" dirty="0"/>
          </a:p>
        </p:txBody>
      </p:sp>
      <p:sp>
        <p:nvSpPr>
          <p:cNvPr id="44" name="Shape 30"/>
          <p:cNvSpPr/>
          <p:nvPr/>
        </p:nvSpPr>
        <p:spPr>
          <a:xfrm>
            <a:off x="5120640" y="3849624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534924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THE, same vector</a:t>
            </a:r>
            <a:endParaRPr lang="en-US" sz="1200" dirty="0"/>
          </a:p>
        </p:txBody>
      </p:sp>
      <p:sp>
        <p:nvSpPr>
          <p:cNvPr id="46" name="Text 32"/>
          <p:cNvSpPr/>
          <p:nvPr/>
        </p:nvSpPr>
        <p:spPr>
          <a:xfrm>
            <a:off x="5349240" y="41879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"THE" tokens get identical vectors — context changes later in Attention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504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3" name="Shape 0"/>
          <p:cNvSpPr/>
          <p:nvPr/>
        </p:nvSpPr>
        <p:spPr>
          <a:xfrm>
            <a:off x="457200" y="228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Text 1"/>
          <p:cNvSpPr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5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3600" dirty="0"/>
          </a:p>
        </p:txBody>
      </p:sp>
      <p:sp>
        <p:nvSpPr>
          <p:cNvPr id="16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shines a spotlight on all other tokens to understand context.</a:t>
            </a:r>
            <a:endParaRPr lang="en-US" sz="1300" dirty="0"/>
          </a:p>
        </p:txBody>
      </p:sp>
      <p:sp>
        <p:nvSpPr>
          <p:cNvPr id="17" name="Text 4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sentence:</a:t>
            </a:r>
            <a:endParaRPr lang="en-US" sz="1100" dirty="0"/>
          </a:p>
        </p:txBody>
      </p:sp>
      <p:sp>
        <p:nvSpPr>
          <p:cNvPr id="18" name="Shape 5"/>
          <p:cNvSpPr/>
          <p:nvPr/>
        </p:nvSpPr>
        <p:spPr>
          <a:xfrm>
            <a:off x="457200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6"/>
          <p:cNvSpPr/>
          <p:nvPr/>
        </p:nvSpPr>
        <p:spPr>
          <a:xfrm>
            <a:off x="45720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20" name="Shape 7"/>
          <p:cNvSpPr/>
          <p:nvPr/>
        </p:nvSpPr>
        <p:spPr>
          <a:xfrm>
            <a:off x="1847088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8"/>
          <p:cNvSpPr/>
          <p:nvPr/>
        </p:nvSpPr>
        <p:spPr>
          <a:xfrm>
            <a:off x="1847088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300" dirty="0"/>
          </a:p>
        </p:txBody>
      </p:sp>
      <p:sp>
        <p:nvSpPr>
          <p:cNvPr id="23" name="Shape 9"/>
          <p:cNvSpPr/>
          <p:nvPr/>
        </p:nvSpPr>
        <p:spPr>
          <a:xfrm>
            <a:off x="3236976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10"/>
          <p:cNvSpPr/>
          <p:nvPr/>
        </p:nvSpPr>
        <p:spPr>
          <a:xfrm>
            <a:off x="3236976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</a:t>
            </a:r>
            <a:endParaRPr lang="en-US" sz="1300" dirty="0"/>
          </a:p>
        </p:txBody>
      </p:sp>
      <p:sp>
        <p:nvSpPr>
          <p:cNvPr id="25" name="Shape 11"/>
          <p:cNvSpPr/>
          <p:nvPr/>
        </p:nvSpPr>
        <p:spPr>
          <a:xfrm>
            <a:off x="4626864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12"/>
          <p:cNvSpPr/>
          <p:nvPr/>
        </p:nvSpPr>
        <p:spPr>
          <a:xfrm>
            <a:off x="4626864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27" name="Shape 13"/>
          <p:cNvSpPr/>
          <p:nvPr/>
        </p:nvSpPr>
        <p:spPr>
          <a:xfrm>
            <a:off x="6016752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14"/>
          <p:cNvSpPr/>
          <p:nvPr/>
        </p:nvSpPr>
        <p:spPr>
          <a:xfrm>
            <a:off x="6016752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300" dirty="0"/>
          </a:p>
        </p:txBody>
      </p:sp>
      <p:sp>
        <p:nvSpPr>
          <p:cNvPr id="29" name="Text 15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looking at  ATE  — attention asks:</a:t>
            </a:r>
            <a:endParaRPr lang="en-US" sz="1200" dirty="0"/>
          </a:p>
        </p:txBody>
      </p:sp>
      <p:sp>
        <p:nvSpPr>
          <p:cNvPr id="30" name="Shape 16"/>
          <p:cNvSpPr/>
          <p:nvPr/>
        </p:nvSpPr>
        <p:spPr>
          <a:xfrm>
            <a:off x="457200" y="272491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17"/>
          <p:cNvSpPr/>
          <p:nvPr/>
        </p:nvSpPr>
        <p:spPr>
          <a:xfrm>
            <a:off x="594360" y="283464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18"/>
          <p:cNvSpPr/>
          <p:nvPr/>
        </p:nvSpPr>
        <p:spPr>
          <a:xfrm>
            <a:off x="822960" y="27614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doing the eating?</a:t>
            </a:r>
            <a:endParaRPr lang="en-US" sz="1200" dirty="0"/>
          </a:p>
        </p:txBody>
      </p:sp>
      <p:sp>
        <p:nvSpPr>
          <p:cNvPr id="33" name="Text 19"/>
          <p:cNvSpPr/>
          <p:nvPr/>
        </p:nvSpPr>
        <p:spPr>
          <a:xfrm>
            <a:off x="4480560" y="27614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looks at KING  (high attention score)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457200" y="347472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22"/>
          <p:cNvSpPr/>
          <p:nvPr/>
        </p:nvSpPr>
        <p:spPr>
          <a:xfrm>
            <a:off x="822960" y="35112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eaten?</a:t>
            </a:r>
            <a:endParaRPr lang="en-US" sz="1200" dirty="0"/>
          </a:p>
        </p:txBody>
      </p:sp>
      <p:sp>
        <p:nvSpPr>
          <p:cNvPr id="37" name="Text 23"/>
          <p:cNvSpPr/>
          <p:nvPr/>
        </p:nvSpPr>
        <p:spPr>
          <a:xfrm>
            <a:off x="4480560" y="35112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looks at APPLE (high attention score)</a:t>
            </a:r>
            <a:endParaRPr lang="en-US" sz="1200" dirty="0"/>
          </a:p>
        </p:txBody>
      </p:sp>
      <p:sp>
        <p:nvSpPr>
          <p:cNvPr id="38" name="Shape 24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25"/>
          <p:cNvSpPr/>
          <p:nvPr/>
        </p:nvSpPr>
        <p:spPr>
          <a:xfrm>
            <a:off x="594360" y="4334256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26"/>
          <p:cNvSpPr/>
          <p:nvPr/>
        </p:nvSpPr>
        <p:spPr>
          <a:xfrm>
            <a:off x="822960" y="42611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THEs doing?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4480560" y="42611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looks at both THE tokens (low score)</a:t>
            </a:r>
            <a:endParaRPr lang="en-US" sz="1200" dirty="0"/>
          </a:p>
        </p:txBody>
      </p:sp>
      <p:sp>
        <p:nvSpPr>
          <p:cNvPr id="42" name="Shape 28"/>
          <p:cNvSpPr/>
          <p:nvPr/>
        </p:nvSpPr>
        <p:spPr>
          <a:xfrm>
            <a:off x="457200" y="4736592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3" name="Text 29"/>
          <p:cNvSpPr/>
          <p:nvPr/>
        </p:nvSpPr>
        <p:spPr>
          <a:xfrm>
            <a:off x="594360" y="4736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Every token attends to every other token — this is why longer prompts cost more (quadratic growth)!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9751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8" name="Shape 0"/>
          <p:cNvSpPr/>
          <p:nvPr/>
        </p:nvSpPr>
        <p:spPr>
          <a:xfrm>
            <a:off x="457200" y="228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1"/>
          <p:cNvSpPr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10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(FFN)</a:t>
            </a:r>
            <a:endParaRPr lang="en-US" sz="3200" dirty="0"/>
          </a:p>
        </p:txBody>
      </p:sp>
      <p:sp>
        <p:nvSpPr>
          <p:cNvPr id="12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alone thinks: "What do I already know about myself?"</a:t>
            </a:r>
            <a:endParaRPr lang="en-US" sz="1300" dirty="0"/>
          </a:p>
        </p:txBody>
      </p:sp>
      <p:sp>
        <p:nvSpPr>
          <p:cNvPr id="16" name="Shape 4"/>
          <p:cNvSpPr/>
          <p:nvPr/>
        </p:nvSpPr>
        <p:spPr>
          <a:xfrm>
            <a:off x="457200" y="1481328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685800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The Analogy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68580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say the word  "KING"  to a professor.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685800" y="239572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look anything up.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just think for a second — and everything they know about KING activates in their mind.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685800" y="320040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FFN.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"encyclopedia" is not a book —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professor's trained brain.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685800" y="4005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QUEEN goes through the same FFN and gets a very similar result — that's how the model knows they're related.</a:t>
            </a:r>
            <a:endParaRPr lang="en-US" sz="1050" dirty="0"/>
          </a:p>
        </p:txBody>
      </p:sp>
      <p:sp>
        <p:nvSpPr>
          <p:cNvPr id="22" name="Shape 10"/>
          <p:cNvSpPr/>
          <p:nvPr/>
        </p:nvSpPr>
        <p:spPr>
          <a:xfrm>
            <a:off x="4663440" y="1481328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11"/>
          <p:cNvSpPr/>
          <p:nvPr/>
        </p:nvSpPr>
        <p:spPr>
          <a:xfrm>
            <a:off x="4892040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KING knows after FFN:</a:t>
            </a:r>
            <a:endParaRPr lang="en-US" sz="1500" dirty="0"/>
          </a:p>
        </p:txBody>
      </p:sp>
      <p:sp>
        <p:nvSpPr>
          <p:cNvPr id="24" name="Shape 12"/>
          <p:cNvSpPr/>
          <p:nvPr/>
        </p:nvSpPr>
        <p:spPr>
          <a:xfrm>
            <a:off x="4892040" y="2029968"/>
            <a:ext cx="804672" cy="36576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892040" y="202996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5779008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as just a vector of numbers</a:t>
            </a:r>
            <a:endParaRPr lang="en-US" sz="1100" dirty="0"/>
          </a:p>
        </p:txBody>
      </p:sp>
      <p:sp>
        <p:nvSpPr>
          <p:cNvPr id="27" name="Text 15"/>
          <p:cNvSpPr/>
          <p:nvPr/>
        </p:nvSpPr>
        <p:spPr>
          <a:xfrm>
            <a:off x="489204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FFN processes it</a:t>
            </a:r>
            <a:endParaRPr lang="en-US" sz="1100" dirty="0"/>
          </a:p>
        </p:txBody>
      </p:sp>
      <p:sp>
        <p:nvSpPr>
          <p:cNvPr id="28" name="Shape 16"/>
          <p:cNvSpPr/>
          <p:nvPr/>
        </p:nvSpPr>
        <p:spPr>
          <a:xfrm>
            <a:off x="4892040" y="283464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4892040" y="283464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royalty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6812280" y="283464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6812280" y="283464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 male</a:t>
            </a:r>
            <a:endParaRPr lang="en-US" sz="1100" dirty="0"/>
          </a:p>
        </p:txBody>
      </p:sp>
      <p:sp>
        <p:nvSpPr>
          <p:cNvPr id="32" name="Shape 20"/>
          <p:cNvSpPr/>
          <p:nvPr/>
        </p:nvSpPr>
        <p:spPr>
          <a:xfrm>
            <a:off x="4892040" y="3364992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4892040" y="336499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powerful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6812280" y="3364992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6812280" y="336499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 has a kingdom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4892040" y="3895344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4892040" y="3895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🗡  medieval era</a:t>
            </a:r>
            <a:endParaRPr lang="en-US" sz="1100" dirty="0"/>
          </a:p>
        </p:txBody>
      </p:sp>
      <p:sp>
        <p:nvSpPr>
          <p:cNvPr id="38" name="Text 26"/>
          <p:cNvSpPr/>
          <p:nvPr/>
        </p:nvSpPr>
        <p:spPr>
          <a:xfrm>
            <a:off x="4892040" y="4480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as a richer, knowledge-packed vector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0597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0" name="Shape 0"/>
          <p:cNvSpPr/>
          <p:nvPr/>
        </p:nvSpPr>
        <p:spPr>
          <a:xfrm>
            <a:off x="457200" y="228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"/>
          <p:cNvSpPr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13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3600" dirty="0"/>
          </a:p>
        </p:txBody>
      </p:sp>
      <p:sp>
        <p:nvSpPr>
          <p:cNvPr id="14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Attention + FFN, the model scores every possible next token and picks the most likely one.</a:t>
            </a:r>
            <a:endParaRPr lang="en-US" sz="1300" dirty="0"/>
          </a:p>
        </p:txBody>
      </p:sp>
      <p:sp>
        <p:nvSpPr>
          <p:cNvPr id="15" name="Shape 4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5"/>
          <p:cNvSpPr/>
          <p:nvPr/>
        </p:nvSpPr>
        <p:spPr>
          <a:xfrm>
            <a:off x="658368" y="1554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 far:</a:t>
            </a:r>
            <a:endParaRPr lang="en-US" sz="1100" dirty="0"/>
          </a:p>
        </p:txBody>
      </p:sp>
      <p:sp>
        <p:nvSpPr>
          <p:cNvPr id="17" name="Text 6"/>
          <p:cNvSpPr/>
          <p:nvPr/>
        </p:nvSpPr>
        <p:spPr>
          <a:xfrm>
            <a:off x="1828800" y="15544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KING ATE THE ___"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457200" y="2029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 next token: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457200" y="2377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200" dirty="0"/>
          </a:p>
        </p:txBody>
      </p:sp>
      <p:sp>
        <p:nvSpPr>
          <p:cNvPr id="20" name="Shape 9"/>
          <p:cNvSpPr/>
          <p:nvPr/>
        </p:nvSpPr>
        <p:spPr>
          <a:xfrm>
            <a:off x="1536192" y="240487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0"/>
          <p:cNvSpPr/>
          <p:nvPr/>
        </p:nvSpPr>
        <p:spPr>
          <a:xfrm>
            <a:off x="5084064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23" name="Text 11"/>
          <p:cNvSpPr/>
          <p:nvPr/>
        </p:nvSpPr>
        <p:spPr>
          <a:xfrm>
            <a:off x="457200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1200" dirty="0"/>
          </a:p>
        </p:txBody>
      </p:sp>
      <p:sp>
        <p:nvSpPr>
          <p:cNvPr id="24" name="Shape 12"/>
          <p:cNvSpPr/>
          <p:nvPr/>
        </p:nvSpPr>
        <p:spPr>
          <a:xfrm>
            <a:off x="1536192" y="2862072"/>
            <a:ext cx="603504" cy="274320"/>
          </a:xfrm>
          <a:prstGeom prst="roundRect">
            <a:avLst>
              <a:gd name="adj" fmla="val 20000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2212848" y="2862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6" name="Text 14"/>
          <p:cNvSpPr/>
          <p:nvPr/>
        </p:nvSpPr>
        <p:spPr>
          <a:xfrm>
            <a:off x="457200" y="3291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00" dirty="0"/>
          </a:p>
        </p:txBody>
      </p:sp>
      <p:sp>
        <p:nvSpPr>
          <p:cNvPr id="27" name="Shape 15"/>
          <p:cNvSpPr/>
          <p:nvPr/>
        </p:nvSpPr>
        <p:spPr>
          <a:xfrm>
            <a:off x="1536192" y="3319272"/>
            <a:ext cx="402336" cy="274320"/>
          </a:xfrm>
          <a:prstGeom prst="roundRect">
            <a:avLst>
              <a:gd name="adj" fmla="val 20000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16"/>
          <p:cNvSpPr/>
          <p:nvPr/>
        </p:nvSpPr>
        <p:spPr>
          <a:xfrm>
            <a:off x="2011680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9" name="Text 17"/>
          <p:cNvSpPr/>
          <p:nvPr/>
        </p:nvSpPr>
        <p:spPr>
          <a:xfrm>
            <a:off x="457200" y="3749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1536192" y="3776472"/>
            <a:ext cx="251460" cy="274320"/>
          </a:xfrm>
          <a:prstGeom prst="roundRect">
            <a:avLst>
              <a:gd name="adj" fmla="val 21818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1860804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32" name="Text 20"/>
          <p:cNvSpPr/>
          <p:nvPr/>
        </p:nvSpPr>
        <p:spPr>
          <a:xfrm>
            <a:off x="45720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1536192" y="4233672"/>
            <a:ext cx="150876" cy="274320"/>
          </a:xfrm>
          <a:prstGeom prst="roundRect">
            <a:avLst>
              <a:gd name="adj" fmla="val 36364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1760220" y="4233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100" dirty="0"/>
          </a:p>
        </p:txBody>
      </p:sp>
      <p:grpSp>
        <p:nvGrpSpPr>
          <p:cNvPr id="6" name="Group 5"/>
          <p:cNvGrpSpPr/>
          <p:nvPr/>
        </p:nvGrpSpPr>
        <p:grpSpPr>
          <a:xfrm>
            <a:off x="5482189" y="2286000"/>
            <a:ext cx="3354467" cy="2573937"/>
            <a:chOff x="5303520" y="1508760"/>
            <a:chExt cx="3474720" cy="3291840"/>
          </a:xfrm>
        </p:grpSpPr>
        <p:sp>
          <p:nvSpPr>
            <p:cNvPr id="35" name="Shape 25"/>
            <p:cNvSpPr/>
            <p:nvPr/>
          </p:nvSpPr>
          <p:spPr>
            <a:xfrm>
              <a:off x="5303520" y="1508760"/>
              <a:ext cx="3474720" cy="3291840"/>
            </a:xfrm>
            <a:prstGeom prst="roundRect">
              <a:avLst>
                <a:gd name="adj" fmla="val 3333"/>
              </a:avLst>
            </a:prstGeom>
            <a:solidFill>
              <a:srgbClr val="FEF2F2"/>
            </a:solidFill>
            <a:ln w="12700">
              <a:solidFill>
                <a:srgbClr val="FECACA"/>
              </a:solidFill>
              <a:prstDash val="solid"/>
            </a:ln>
          </p:spPr>
        </p:sp>
        <p:sp>
          <p:nvSpPr>
            <p:cNvPr id="36" name="Text 26"/>
            <p:cNvSpPr/>
            <p:nvPr/>
          </p:nvSpPr>
          <p:spPr>
            <a:xfrm>
              <a:off x="5486400" y="1600200"/>
              <a:ext cx="31089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 smtClean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</a:t>
              </a:r>
              <a:r>
                <a:rPr lang="en-US" sz="13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Hallucinations Happen</a:t>
              </a:r>
              <a:endParaRPr lang="en-US" sz="1300" dirty="0"/>
            </a:p>
          </p:txBody>
        </p:sp>
        <p:sp>
          <p:nvSpPr>
            <p:cNvPr id="37" name="Text 27"/>
            <p:cNvSpPr/>
            <p:nvPr/>
          </p:nvSpPr>
          <p:spPr>
            <a:xfrm>
              <a:off x="5486400" y="2029968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model always picks a plausible next token — </a:t>
              </a:r>
              <a:endPara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en-US" sz="1050" dirty="0" smtClean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</a:t>
              </a: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necessarily a true one.</a:t>
              </a:r>
              <a:endParaRPr lang="en-US" sz="1050" dirty="0"/>
            </a:p>
          </p:txBody>
        </p:sp>
        <p:sp>
          <p:nvSpPr>
            <p:cNvPr id="38" name="Text 28"/>
            <p:cNvSpPr/>
            <p:nvPr/>
          </p:nvSpPr>
          <p:spPr>
            <a:xfrm>
              <a:off x="5486400" y="2633472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 has no built-in fact-checker. It's pattern matching, not reasoning.</a:t>
              </a:r>
              <a:endParaRPr lang="en-US" sz="1050" dirty="0"/>
            </a:p>
          </p:txBody>
        </p:sp>
        <p:sp>
          <p:nvSpPr>
            <p:cNvPr id="39" name="Text 29"/>
            <p:cNvSpPr/>
            <p:nvPr/>
          </p:nvSpPr>
          <p:spPr>
            <a:xfrm>
              <a:off x="5486400" y="3246120"/>
              <a:ext cx="310896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Temperature controls this: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🔥 High = creative (flatter distribution)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 smtClean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= focused (sharper distribution)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136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0" name="Text 0"/>
          <p:cNvSpPr/>
          <p:nvPr/>
        </p:nvSpPr>
        <p:spPr>
          <a:xfrm>
            <a:off x="45720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— From Your Text to My Response</a:t>
            </a:r>
            <a:endParaRPr lang="en-US" sz="2600" dirty="0"/>
          </a:p>
        </p:txBody>
      </p:sp>
      <p:sp>
        <p:nvSpPr>
          <p:cNvPr id="21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KING ATE THE APPLE" — what actually happens</a:t>
            </a:r>
            <a:endParaRPr lang="en-US" sz="1300" dirty="0"/>
          </a:p>
        </p:txBody>
      </p:sp>
      <p:sp>
        <p:nvSpPr>
          <p:cNvPr id="22" name="Shape 2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3" name="Shape 3"/>
          <p:cNvSpPr/>
          <p:nvPr/>
        </p:nvSpPr>
        <p:spPr>
          <a:xfrm>
            <a:off x="502920" y="1188720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4"/>
          <p:cNvSpPr/>
          <p:nvPr/>
        </p:nvSpPr>
        <p:spPr>
          <a:xfrm>
            <a:off x="50292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5"/>
          <p:cNvSpPr/>
          <p:nvPr/>
        </p:nvSpPr>
        <p:spPr>
          <a:xfrm>
            <a:off x="1005840" y="11430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2212848" y="1143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KING ATE THE APPLE"</a:t>
            </a:r>
            <a:endParaRPr lang="en-US" sz="950" dirty="0"/>
          </a:p>
        </p:txBody>
      </p:sp>
      <p:sp>
        <p:nvSpPr>
          <p:cNvPr id="27" name="Text 7"/>
          <p:cNvSpPr/>
          <p:nvPr/>
        </p:nvSpPr>
        <p:spPr>
          <a:xfrm>
            <a:off x="4617720" y="1143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[1996, 3573, 8388, 1996, 6015]</a:t>
            </a:r>
            <a:endParaRPr lang="en-US" sz="1000" dirty="0"/>
          </a:p>
        </p:txBody>
      </p:sp>
      <p:sp>
        <p:nvSpPr>
          <p:cNvPr id="28" name="Shape 8"/>
          <p:cNvSpPr/>
          <p:nvPr/>
        </p:nvSpPr>
        <p:spPr>
          <a:xfrm>
            <a:off x="7571232" y="122529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9"/>
          <p:cNvSpPr/>
          <p:nvPr/>
        </p:nvSpPr>
        <p:spPr>
          <a:xfrm>
            <a:off x="7571232" y="122529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can't count letters</a:t>
            </a:r>
            <a:endParaRPr lang="en-US" sz="750" dirty="0"/>
          </a:p>
        </p:txBody>
      </p:sp>
      <p:sp>
        <p:nvSpPr>
          <p:cNvPr id="30" name="Shape 10"/>
          <p:cNvSpPr/>
          <p:nvPr/>
        </p:nvSpPr>
        <p:spPr>
          <a:xfrm>
            <a:off x="365760" y="184708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1" name="Shape 11"/>
          <p:cNvSpPr/>
          <p:nvPr/>
        </p:nvSpPr>
        <p:spPr>
          <a:xfrm>
            <a:off x="502920" y="1956816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12"/>
          <p:cNvSpPr/>
          <p:nvPr/>
        </p:nvSpPr>
        <p:spPr>
          <a:xfrm>
            <a:off x="50292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13"/>
          <p:cNvSpPr/>
          <p:nvPr/>
        </p:nvSpPr>
        <p:spPr>
          <a:xfrm>
            <a:off x="1005840" y="191109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2212848" y="19110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[1996, 3573, ...]</a:t>
            </a:r>
            <a:endParaRPr lang="en-US" sz="950" dirty="0"/>
          </a:p>
        </p:txBody>
      </p:sp>
      <p:sp>
        <p:nvSpPr>
          <p:cNvPr id="35" name="Text 15"/>
          <p:cNvSpPr/>
          <p:nvPr/>
        </p:nvSpPr>
        <p:spPr>
          <a:xfrm>
            <a:off x="4617720" y="19110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ID becomes 768 numbers capturing meaning</a:t>
            </a:r>
            <a:endParaRPr lang="en-US" sz="1000" dirty="0"/>
          </a:p>
        </p:txBody>
      </p:sp>
      <p:sp>
        <p:nvSpPr>
          <p:cNvPr id="36" name="Shape 16"/>
          <p:cNvSpPr/>
          <p:nvPr/>
        </p:nvSpPr>
        <p:spPr>
          <a:xfrm>
            <a:off x="7571232" y="1993392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17"/>
          <p:cNvSpPr/>
          <p:nvPr/>
        </p:nvSpPr>
        <p:spPr>
          <a:xfrm>
            <a:off x="7571232" y="199339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context changes meaning</a:t>
            </a:r>
            <a:endParaRPr lang="en-US" sz="750" dirty="0"/>
          </a:p>
        </p:txBody>
      </p:sp>
      <p:sp>
        <p:nvSpPr>
          <p:cNvPr id="38" name="Shape 18"/>
          <p:cNvSpPr/>
          <p:nvPr/>
        </p:nvSpPr>
        <p:spPr>
          <a:xfrm>
            <a:off x="365760" y="261518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9" name="Shape 19"/>
          <p:cNvSpPr/>
          <p:nvPr/>
        </p:nvSpPr>
        <p:spPr>
          <a:xfrm>
            <a:off x="502920" y="2724912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20"/>
          <p:cNvSpPr/>
          <p:nvPr/>
        </p:nvSpPr>
        <p:spPr>
          <a:xfrm>
            <a:off x="50292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21"/>
          <p:cNvSpPr/>
          <p:nvPr/>
        </p:nvSpPr>
        <p:spPr>
          <a:xfrm>
            <a:off x="1005840" y="26791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42" name="Text 22"/>
          <p:cNvSpPr/>
          <p:nvPr/>
        </p:nvSpPr>
        <p:spPr>
          <a:xfrm>
            <a:off x="2212848" y="2679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768-number vectors</a:t>
            </a:r>
            <a:endParaRPr lang="en-US" sz="950" dirty="0"/>
          </a:p>
        </p:txBody>
      </p:sp>
      <p:sp>
        <p:nvSpPr>
          <p:cNvPr id="43" name="Text 23"/>
          <p:cNvSpPr/>
          <p:nvPr/>
        </p:nvSpPr>
        <p:spPr>
          <a:xfrm>
            <a:off x="4617720" y="2679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ATE looks at KING (who?) and APPLE (what?)</a:t>
            </a:r>
            <a:endParaRPr lang="en-US" sz="1000" dirty="0"/>
          </a:p>
        </p:txBody>
      </p:sp>
      <p:sp>
        <p:nvSpPr>
          <p:cNvPr id="44" name="Shape 24"/>
          <p:cNvSpPr/>
          <p:nvPr/>
        </p:nvSpPr>
        <p:spPr>
          <a:xfrm>
            <a:off x="7571232" y="2761488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25"/>
          <p:cNvSpPr/>
          <p:nvPr/>
        </p:nvSpPr>
        <p:spPr>
          <a:xfrm>
            <a:off x="7571232" y="276148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longer prompts cost more</a:t>
            </a:r>
            <a:endParaRPr lang="en-US" sz="750" dirty="0"/>
          </a:p>
        </p:txBody>
      </p:sp>
      <p:sp>
        <p:nvSpPr>
          <p:cNvPr id="46" name="Shape 26"/>
          <p:cNvSpPr/>
          <p:nvPr/>
        </p:nvSpPr>
        <p:spPr>
          <a:xfrm>
            <a:off x="365760" y="33832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7" name="Shape 27"/>
          <p:cNvSpPr/>
          <p:nvPr/>
        </p:nvSpPr>
        <p:spPr>
          <a:xfrm>
            <a:off x="502920" y="349300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28"/>
          <p:cNvSpPr/>
          <p:nvPr/>
        </p:nvSpPr>
        <p:spPr>
          <a:xfrm>
            <a:off x="502920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29"/>
          <p:cNvSpPr/>
          <p:nvPr/>
        </p:nvSpPr>
        <p:spPr>
          <a:xfrm>
            <a:off x="1005840" y="34472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</a:t>
            </a:r>
            <a:endParaRPr lang="en-US" sz="1200" dirty="0"/>
          </a:p>
        </p:txBody>
      </p:sp>
      <p:sp>
        <p:nvSpPr>
          <p:cNvPr id="50" name="Text 30"/>
          <p:cNvSpPr/>
          <p:nvPr/>
        </p:nvSpPr>
        <p:spPr>
          <a:xfrm>
            <a:off x="2212848" y="3447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Context-enriched vectors</a:t>
            </a:r>
            <a:endParaRPr lang="en-US" sz="950" dirty="0"/>
          </a:p>
        </p:txBody>
      </p:sp>
      <p:sp>
        <p:nvSpPr>
          <p:cNvPr id="51" name="Text 31"/>
          <p:cNvSpPr/>
          <p:nvPr/>
        </p:nvSpPr>
        <p:spPr>
          <a:xfrm>
            <a:off x="4617720" y="3447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KING gains: royalty, power, male... from training</a:t>
            </a:r>
            <a:endParaRPr lang="en-US" sz="1000" dirty="0"/>
          </a:p>
        </p:txBody>
      </p:sp>
      <p:sp>
        <p:nvSpPr>
          <p:cNvPr id="52" name="Shape 32"/>
          <p:cNvSpPr/>
          <p:nvPr/>
        </p:nvSpPr>
        <p:spPr>
          <a:xfrm>
            <a:off x="7571232" y="3529584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33"/>
          <p:cNvSpPr/>
          <p:nvPr/>
        </p:nvSpPr>
        <p:spPr>
          <a:xfrm>
            <a:off x="7571232" y="35295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know facts</a:t>
            </a:r>
            <a:endParaRPr lang="en-US" sz="750" dirty="0"/>
          </a:p>
        </p:txBody>
      </p:sp>
      <p:sp>
        <p:nvSpPr>
          <p:cNvPr id="54" name="Shape 34"/>
          <p:cNvSpPr/>
          <p:nvPr/>
        </p:nvSpPr>
        <p:spPr>
          <a:xfrm>
            <a:off x="365760" y="415137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5" name="Shape 35"/>
          <p:cNvSpPr/>
          <p:nvPr/>
        </p:nvSpPr>
        <p:spPr>
          <a:xfrm>
            <a:off x="502920" y="426110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36"/>
          <p:cNvSpPr/>
          <p:nvPr/>
        </p:nvSpPr>
        <p:spPr>
          <a:xfrm>
            <a:off x="50292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7" name="Text 37"/>
          <p:cNvSpPr/>
          <p:nvPr/>
        </p:nvSpPr>
        <p:spPr>
          <a:xfrm>
            <a:off x="1005840" y="421538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58" name="Text 38"/>
          <p:cNvSpPr/>
          <p:nvPr/>
        </p:nvSpPr>
        <p:spPr>
          <a:xfrm>
            <a:off x="2212848" y="42153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vector</a:t>
            </a:r>
            <a:endParaRPr lang="en-US" sz="950" dirty="0"/>
          </a:p>
        </p:txBody>
      </p:sp>
      <p:sp>
        <p:nvSpPr>
          <p:cNvPr id="59" name="Text 39"/>
          <p:cNvSpPr/>
          <p:nvPr/>
        </p:nvSpPr>
        <p:spPr>
          <a:xfrm>
            <a:off x="4617720" y="42153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Scores all tokens → picks "APPLE" (72%)</a:t>
            </a:r>
            <a:endParaRPr lang="en-US" sz="1000" dirty="0"/>
          </a:p>
        </p:txBody>
      </p:sp>
      <p:sp>
        <p:nvSpPr>
          <p:cNvPr id="60" name="Shape 40"/>
          <p:cNvSpPr/>
          <p:nvPr/>
        </p:nvSpPr>
        <p:spPr>
          <a:xfrm>
            <a:off x="7571232" y="42976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41"/>
          <p:cNvSpPr/>
          <p:nvPr/>
        </p:nvSpPr>
        <p:spPr>
          <a:xfrm>
            <a:off x="7571232" y="42976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hallucinate</a:t>
            </a:r>
            <a:endParaRPr lang="en-US" sz="750" dirty="0"/>
          </a:p>
        </p:txBody>
      </p:sp>
      <p:sp>
        <p:nvSpPr>
          <p:cNvPr id="62" name="Shape 42"/>
          <p:cNvSpPr/>
          <p:nvPr/>
        </p:nvSpPr>
        <p:spPr>
          <a:xfrm>
            <a:off x="365760" y="4828032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3" name="Text 43"/>
          <p:cNvSpPr/>
          <p:nvPr/>
        </p:nvSpPr>
        <p:spPr>
          <a:xfrm>
            <a:off x="54864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This entire pipeline runs once for EVERY token generated in my response — that's why longer answers take longer!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5742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and How Developers Use 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CHATGPT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789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</a:t>
            </a: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73936"/>
            <a:ext cx="219456" cy="219456"/>
          </a:xfrm>
          <a:prstGeom prst="ellipse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459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</a:t>
            </a:r>
            <a:r>
              <a:rPr lang="en-US" sz="12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2022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40864"/>
            <a:ext cx="219456" cy="219456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128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million users</a:t>
            </a: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its first 2 months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07792"/>
            <a:ext cx="219456" cy="219456"/>
          </a:xfrm>
          <a:prstGeom prst="ellipse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797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</a:t>
            </a:r>
            <a:r>
              <a:rPr lang="en-US" sz="125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app</a:t>
            </a: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internet history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346704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219456" cy="219456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4670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</a:t>
            </a:r>
            <a:r>
              <a:rPr lang="en-US" sz="12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one interface</a:t>
            </a: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model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41648"/>
            <a:ext cx="219456" cy="219456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1363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is a chatbot powered by a </a:t>
            </a:r>
            <a:r>
              <a:rPr lang="en-US" sz="12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(GPT-4)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66853" y="102110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 FOR DEVELOPERS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66853" y="1295422"/>
            <a:ext cx="4114800" cy="1024128"/>
          </a:xfrm>
          <a:prstGeom prst="rect">
            <a:avLst/>
          </a:prstGeom>
          <a:solidFill>
            <a:srgbClr val="EBF7F0"/>
          </a:solidFill>
          <a:ln w="12700">
            <a:solidFill>
              <a:srgbClr val="00E676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1445" y="1350286"/>
            <a:ext cx="3785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use ChatGPT's website.
</a:t>
            </a: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gives developers direct access to the same model through something called an </a:t>
            </a: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66853" y="244756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TWO WAYS TO ACCESS 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66853" y="2740174"/>
            <a:ext cx="10058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8FA8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6853" y="274017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0125" y="274017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8BE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01877" y="2740174"/>
            <a:ext cx="1234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1877" y="274017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chat.openai.com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63749" y="274017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8BE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66853" y="3215662"/>
            <a:ext cx="10058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6853" y="321566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0125" y="321566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676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01877" y="3215662"/>
            <a:ext cx="1234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1877" y="321566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+ Python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63749" y="321566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676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656357" y="2703598"/>
            <a:ext cx="914400" cy="896112"/>
          </a:xfrm>
          <a:prstGeom prst="rect">
            <a:avLst/>
          </a:prstGeom>
          <a:solidFill>
            <a:srgbClr val="F4EEFF"/>
          </a:solidFill>
          <a:ln w="12700">
            <a:solidFill>
              <a:srgbClr val="9D4EDD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656357" y="2703598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
</a:t>
            </a: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83205" y="3636286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56991" y="886169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56991" y="886169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pplication  </a:t>
            </a: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rogramming  </a:t>
            </a: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nterface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82190" y="3306275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190" y="3306275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restaurant:  </a:t>
            </a: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customer    </a:t>
            </a: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waiter    </a:t>
            </a: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kitchen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2190" y="3846269"/>
            <a:ext cx="8229600" cy="530352"/>
          </a:xfrm>
          <a:prstGeom prst="rect">
            <a:avLst/>
          </a:prstGeom>
          <a:solidFill>
            <a:srgbClr val="FFFBE8"/>
          </a:solidFill>
          <a:ln w="10160">
            <a:solidFill>
              <a:srgbClr val="FFD60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5070" y="3846269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is how we talk to the model directly from our own code — without the website.</a:t>
            </a:r>
            <a:endParaRPr lang="en-US" sz="1300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13" y="1454629"/>
            <a:ext cx="4779574" cy="1964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11" name="Text 2"/>
          <p:cNvSpPr/>
          <p:nvPr/>
        </p:nvSpPr>
        <p:spPr>
          <a:xfrm>
            <a:off x="457200" y="271491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 vs  Cloud LLM</a:t>
            </a:r>
            <a:endParaRPr lang="en-US" sz="3600" dirty="0"/>
          </a:p>
        </p:txBody>
      </p:sp>
      <p:sp>
        <p:nvSpPr>
          <p:cNvPr id="12" name="Text 3"/>
          <p:cNvSpPr/>
          <p:nvPr/>
        </p:nvSpPr>
        <p:spPr>
          <a:xfrm>
            <a:off x="457200" y="835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use an LLM — what's the difference, and which should you use?</a:t>
            </a:r>
            <a:endParaRPr lang="en-US" sz="13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219456" y="1333050"/>
            <a:ext cx="3931920" cy="3218688"/>
            <a:chOff x="457200" y="1508760"/>
            <a:chExt cx="4023360" cy="3337560"/>
          </a:xfrm>
        </p:grpSpPr>
        <p:sp>
          <p:nvSpPr>
            <p:cNvPr id="14" name="Shape 4"/>
            <p:cNvSpPr/>
            <p:nvPr/>
          </p:nvSpPr>
          <p:spPr>
            <a:xfrm>
              <a:off x="457200" y="1508760"/>
              <a:ext cx="4023360" cy="3337560"/>
            </a:xfrm>
            <a:prstGeom prst="roundRect">
              <a:avLst>
                <a:gd name="adj" fmla="val 3836"/>
              </a:avLst>
            </a:prstGeom>
            <a:solidFill>
              <a:srgbClr val="D1FAE5"/>
            </a:solidFill>
            <a:ln w="12700">
              <a:solidFill>
                <a:srgbClr val="D1FAE5"/>
              </a:solidFill>
              <a:prstDash val="solid"/>
            </a:ln>
          </p:spPr>
        </p:sp>
        <p:sp>
          <p:nvSpPr>
            <p:cNvPr id="15" name="Text 5"/>
            <p:cNvSpPr/>
            <p:nvPr/>
          </p:nvSpPr>
          <p:spPr>
            <a:xfrm>
              <a:off x="685800" y="1627632"/>
              <a:ext cx="3657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🏠  Local LLM</a:t>
              </a:r>
              <a:endParaRPr lang="en-US" sz="1800" dirty="0"/>
            </a:p>
          </p:txBody>
        </p:sp>
        <p:sp>
          <p:nvSpPr>
            <p:cNvPr id="16" name="Text 6"/>
            <p:cNvSpPr/>
            <p:nvPr/>
          </p:nvSpPr>
          <p:spPr>
            <a:xfrm>
              <a:off x="685800" y="1993392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i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Runs entirely on YOUR computer</a:t>
              </a:r>
              <a:endParaRPr lang="en-US" sz="1100" dirty="0"/>
            </a:p>
          </p:txBody>
        </p:sp>
        <p:sp>
          <p:nvSpPr>
            <p:cNvPr id="17" name="Text 7"/>
            <p:cNvSpPr/>
            <p:nvPr/>
          </p:nvSpPr>
          <p:spPr>
            <a:xfrm>
              <a:off x="685800" y="2331720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No API key — ever</a:t>
              </a:r>
              <a:endParaRPr lang="en-US" sz="1150" dirty="0"/>
            </a:p>
          </p:txBody>
        </p:sp>
        <p:sp>
          <p:nvSpPr>
            <p:cNvPr id="18" name="Text 8"/>
            <p:cNvSpPr/>
            <p:nvPr/>
          </p:nvSpPr>
          <p:spPr>
            <a:xfrm>
              <a:off x="685800" y="267919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No internet required</a:t>
              </a:r>
              <a:endParaRPr lang="en-US" sz="1150" dirty="0"/>
            </a:p>
          </p:txBody>
        </p:sp>
        <p:sp>
          <p:nvSpPr>
            <p:cNvPr id="19" name="Text 9"/>
            <p:cNvSpPr/>
            <p:nvPr/>
          </p:nvSpPr>
          <p:spPr>
            <a:xfrm>
              <a:off x="685800" y="3026664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Completely free</a:t>
              </a:r>
              <a:endParaRPr lang="en-US" sz="1150" dirty="0"/>
            </a:p>
          </p:txBody>
        </p:sp>
        <p:sp>
          <p:nvSpPr>
            <p:cNvPr id="20" name="Text 10"/>
            <p:cNvSpPr/>
            <p:nvPr/>
          </p:nvSpPr>
          <p:spPr>
            <a:xfrm>
              <a:off x="685800" y="3374136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Your data never leaves your PC</a:t>
              </a:r>
              <a:endParaRPr lang="en-US" sz="1150" dirty="0"/>
            </a:p>
          </p:txBody>
        </p:sp>
        <p:sp>
          <p:nvSpPr>
            <p:cNvPr id="21" name="Text 11"/>
            <p:cNvSpPr/>
            <p:nvPr/>
          </p:nvSpPr>
          <p:spPr>
            <a:xfrm>
              <a:off x="685800" y="3721608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 smtClean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Speed depends on your GPU</a:t>
              </a:r>
              <a:endParaRPr lang="en-US" sz="1150" dirty="0"/>
            </a:p>
          </p:txBody>
        </p:sp>
        <p:sp>
          <p:nvSpPr>
            <p:cNvPr id="22" name="Shape 12"/>
            <p:cNvSpPr/>
            <p:nvPr/>
          </p:nvSpPr>
          <p:spPr>
            <a:xfrm>
              <a:off x="594360" y="4133088"/>
              <a:ext cx="3749040" cy="59436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2700">
              <a:solidFill>
                <a:srgbClr val="A7F3D0"/>
              </a:solidFill>
              <a:prstDash val="solid"/>
            </a:ln>
          </p:spPr>
        </p:sp>
        <p:sp>
          <p:nvSpPr>
            <p:cNvPr id="23" name="Text 13"/>
            <p:cNvSpPr/>
            <p:nvPr/>
          </p:nvSpPr>
          <p:spPr>
            <a:xfrm>
              <a:off x="749808" y="417880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📥  Get it free:</a:t>
              </a:r>
              <a:endParaRPr lang="en-US" sz="950" dirty="0"/>
            </a:p>
          </p:txBody>
        </p:sp>
        <p:sp>
          <p:nvSpPr>
            <p:cNvPr id="24" name="Text 14"/>
            <p:cNvSpPr/>
            <p:nvPr/>
          </p:nvSpPr>
          <p:spPr>
            <a:xfrm>
              <a:off x="749808" y="4370832"/>
              <a:ext cx="3383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ollama.com  (easiest)  •  lmstudio.ai  (no terminal)</a:t>
              </a:r>
              <a:endParaRPr lang="en-US" sz="1000" dirty="0"/>
            </a:p>
          </p:txBody>
        </p:sp>
      </p:grpSp>
      <p:sp>
        <p:nvSpPr>
          <p:cNvPr id="25" name="Text 15"/>
          <p:cNvSpPr/>
          <p:nvPr/>
        </p:nvSpPr>
        <p:spPr>
          <a:xfrm>
            <a:off x="420624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4572000" y="1333050"/>
            <a:ext cx="4297680" cy="3218688"/>
            <a:chOff x="4480560" y="1508760"/>
            <a:chExt cx="4297680" cy="3337560"/>
          </a:xfrm>
        </p:grpSpPr>
        <p:sp>
          <p:nvSpPr>
            <p:cNvPr id="27" name="Shape 16"/>
            <p:cNvSpPr/>
            <p:nvPr/>
          </p:nvSpPr>
          <p:spPr>
            <a:xfrm>
              <a:off x="4480560" y="1508760"/>
              <a:ext cx="4297680" cy="3337560"/>
            </a:xfrm>
            <a:prstGeom prst="roundRect">
              <a:avLst>
                <a:gd name="adj" fmla="val 3836"/>
              </a:avLst>
            </a:prstGeom>
            <a:solidFill>
              <a:srgbClr val="EDE9FE"/>
            </a:solidFill>
            <a:ln w="12700">
              <a:solidFill>
                <a:srgbClr val="EDE9FE"/>
              </a:solidFill>
              <a:prstDash val="solid"/>
            </a:ln>
          </p:spPr>
        </p:sp>
        <p:sp>
          <p:nvSpPr>
            <p:cNvPr id="28" name="Text 17"/>
            <p:cNvSpPr/>
            <p:nvPr/>
          </p:nvSpPr>
          <p:spPr>
            <a:xfrm>
              <a:off x="4709160" y="1627632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smtClean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☁  </a:t>
              </a:r>
              <a:r>
                <a:rPr lang="en-US" sz="18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 LLM</a:t>
              </a:r>
              <a:endParaRPr lang="en-US" sz="1800" dirty="0"/>
            </a:p>
          </p:txBody>
        </p:sp>
        <p:sp>
          <p:nvSpPr>
            <p:cNvPr id="29" name="Text 18"/>
            <p:cNvSpPr/>
            <p:nvPr/>
          </p:nvSpPr>
          <p:spPr>
            <a:xfrm>
              <a:off x="4709160" y="1993392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i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Runs on a remote server — you call it via API</a:t>
              </a:r>
              <a:endParaRPr lang="en-US" sz="1100" dirty="0"/>
            </a:p>
          </p:txBody>
        </p:sp>
        <p:sp>
          <p:nvSpPr>
            <p:cNvPr id="30" name="Text 19"/>
            <p:cNvSpPr/>
            <p:nvPr/>
          </p:nvSpPr>
          <p:spPr>
            <a:xfrm>
              <a:off x="4709160" y="2331720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Very fast — big server GPUs</a:t>
              </a:r>
              <a:endParaRPr lang="en-US" sz="1150" dirty="0"/>
            </a:p>
          </p:txBody>
        </p:sp>
        <p:sp>
          <p:nvSpPr>
            <p:cNvPr id="31" name="Text 20"/>
            <p:cNvSpPr/>
            <p:nvPr/>
          </p:nvSpPr>
          <p:spPr>
            <a:xfrm>
              <a:off x="4709160" y="2679192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No installation needed</a:t>
              </a:r>
              <a:endParaRPr lang="en-US" sz="1150" dirty="0"/>
            </a:p>
          </p:txBody>
        </p:sp>
        <p:sp>
          <p:nvSpPr>
            <p:cNvPr id="32" name="Text 21"/>
            <p:cNvSpPr/>
            <p:nvPr/>
          </p:nvSpPr>
          <p:spPr>
            <a:xfrm>
              <a:off x="4709160" y="3026664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Access the biggest models (GPT-4, Claude)</a:t>
              </a:r>
              <a:endParaRPr lang="en-US" sz="1150" dirty="0"/>
            </a:p>
          </p:txBody>
        </p:sp>
        <p:sp>
          <p:nvSpPr>
            <p:cNvPr id="33" name="Text 22"/>
            <p:cNvSpPr/>
            <p:nvPr/>
          </p:nvSpPr>
          <p:spPr>
            <a:xfrm>
              <a:off x="4709160" y="3374136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 smtClean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  </a:t>
              </a: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an API key</a:t>
              </a:r>
              <a:endParaRPr lang="en-US" sz="1150" dirty="0"/>
            </a:p>
          </p:txBody>
        </p:sp>
        <p:sp>
          <p:nvSpPr>
            <p:cNvPr id="34" name="Text 23"/>
            <p:cNvSpPr/>
            <p:nvPr/>
          </p:nvSpPr>
          <p:spPr>
            <a:xfrm>
              <a:off x="4709160" y="372160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 smtClean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  </a:t>
              </a:r>
              <a:r>
                <a:rPr lang="en-US" sz="11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Costs money (pay per use)</a:t>
              </a:r>
              <a:endParaRPr lang="en-US" sz="1150" dirty="0"/>
            </a:p>
          </p:txBody>
        </p:sp>
        <p:sp>
          <p:nvSpPr>
            <p:cNvPr id="35" name="Shape 24"/>
            <p:cNvSpPr/>
            <p:nvPr/>
          </p:nvSpPr>
          <p:spPr>
            <a:xfrm>
              <a:off x="4617720" y="4133088"/>
              <a:ext cx="4023360" cy="59436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2700">
              <a:solidFill>
                <a:srgbClr val="C4B5FD"/>
              </a:solidFill>
              <a:prstDash val="solid"/>
            </a:ln>
          </p:spPr>
        </p:sp>
        <p:sp>
          <p:nvSpPr>
            <p:cNvPr id="41" name="Text 25"/>
            <p:cNvSpPr/>
            <p:nvPr/>
          </p:nvSpPr>
          <p:spPr>
            <a:xfrm>
              <a:off x="4773168" y="4178808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🔗  Try it free:</a:t>
              </a:r>
              <a:endParaRPr lang="en-US" sz="950" dirty="0"/>
            </a:p>
          </p:txBody>
        </p:sp>
        <p:sp>
          <p:nvSpPr>
            <p:cNvPr id="42" name="Text 26"/>
            <p:cNvSpPr/>
            <p:nvPr/>
          </p:nvSpPr>
          <p:spPr>
            <a:xfrm>
              <a:off x="4773168" y="4370832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groq.com  (fast, free tier)  •  openrouter.ai  (many models)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914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6" name="Text 2"/>
          <p:cNvSpPr/>
          <p:nvPr/>
        </p:nvSpPr>
        <p:spPr>
          <a:xfrm>
            <a:off x="411480" y="25833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Your First LLM</a:t>
            </a:r>
            <a:endParaRPr lang="en-US" sz="3400" dirty="0"/>
          </a:p>
        </p:txBody>
      </p:sp>
      <p:sp>
        <p:nvSpPr>
          <p:cNvPr id="37" name="Text 3"/>
          <p:cNvSpPr/>
          <p:nvPr/>
        </p:nvSpPr>
        <p:spPr>
          <a:xfrm>
            <a:off x="457200" y="80592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for both paths — pick the one that suits you</a:t>
            </a:r>
            <a:endParaRPr lang="en-US" sz="1300" dirty="0"/>
          </a:p>
        </p:txBody>
      </p:sp>
      <p:grpSp>
        <p:nvGrpSpPr>
          <p:cNvPr id="38" name="Group 37"/>
          <p:cNvGrpSpPr/>
          <p:nvPr/>
        </p:nvGrpSpPr>
        <p:grpSpPr>
          <a:xfrm>
            <a:off x="457200" y="1325880"/>
            <a:ext cx="3647732" cy="3090672"/>
            <a:chOff x="457200" y="1481328"/>
            <a:chExt cx="4160520" cy="3246120"/>
          </a:xfrm>
        </p:grpSpPr>
        <p:sp>
          <p:nvSpPr>
            <p:cNvPr id="39" name="Shape 4"/>
            <p:cNvSpPr/>
            <p:nvPr/>
          </p:nvSpPr>
          <p:spPr>
            <a:xfrm>
              <a:off x="457200" y="1481328"/>
              <a:ext cx="4160520" cy="3246120"/>
            </a:xfrm>
            <a:prstGeom prst="roundRect">
              <a:avLst>
                <a:gd name="adj" fmla="val 3380"/>
              </a:avLst>
            </a:prstGeom>
            <a:solidFill>
              <a:srgbClr val="D1FAE5"/>
            </a:solidFill>
            <a:ln w="12700">
              <a:solidFill>
                <a:srgbClr val="D1FAE5"/>
              </a:solidFill>
              <a:prstDash val="solid"/>
            </a:ln>
          </p:spPr>
        </p:sp>
        <p:sp>
          <p:nvSpPr>
            <p:cNvPr id="40" name="Text 5"/>
            <p:cNvSpPr/>
            <p:nvPr/>
          </p:nvSpPr>
          <p:spPr>
            <a:xfrm>
              <a:off x="658368" y="1591056"/>
              <a:ext cx="37490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🏠  Local LLM  (Recommended)</a:t>
              </a:r>
              <a:endParaRPr lang="en-US" sz="1400" dirty="0"/>
            </a:p>
          </p:txBody>
        </p:sp>
        <p:sp>
          <p:nvSpPr>
            <p:cNvPr id="43" name="Text 6"/>
            <p:cNvSpPr/>
            <p:nvPr/>
          </p:nvSpPr>
          <p:spPr>
            <a:xfrm>
              <a:off x="658368" y="1901952"/>
              <a:ext cx="3749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account · No credit card · No API key</a:t>
              </a:r>
              <a:endParaRPr lang="en-US" sz="1000" dirty="0"/>
            </a:p>
          </p:txBody>
        </p:sp>
        <p:sp>
          <p:nvSpPr>
            <p:cNvPr id="44" name="Shape 7"/>
            <p:cNvSpPr/>
            <p:nvPr/>
          </p:nvSpPr>
          <p:spPr>
            <a:xfrm>
              <a:off x="621792" y="2231136"/>
              <a:ext cx="292608" cy="292608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45" name="Text 8"/>
            <p:cNvSpPr/>
            <p:nvPr/>
          </p:nvSpPr>
          <p:spPr>
            <a:xfrm>
              <a:off x="621792" y="223113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46" name="Text 9"/>
            <p:cNvSpPr/>
            <p:nvPr/>
          </p:nvSpPr>
          <p:spPr>
            <a:xfrm>
              <a:off x="1005840" y="2212848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 to ollama.com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Download &amp; install Ollama (free)</a:t>
              </a:r>
              <a:endParaRPr lang="en-US" sz="1050" dirty="0"/>
            </a:p>
          </p:txBody>
        </p:sp>
        <p:sp>
          <p:nvSpPr>
            <p:cNvPr id="47" name="Shape 10"/>
            <p:cNvSpPr/>
            <p:nvPr/>
          </p:nvSpPr>
          <p:spPr>
            <a:xfrm>
              <a:off x="621792" y="2871216"/>
              <a:ext cx="292608" cy="292608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48" name="Text 11"/>
            <p:cNvSpPr/>
            <p:nvPr/>
          </p:nvSpPr>
          <p:spPr>
            <a:xfrm>
              <a:off x="621792" y="28712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49" name="Text 12"/>
            <p:cNvSpPr/>
            <p:nvPr/>
          </p:nvSpPr>
          <p:spPr>
            <a:xfrm>
              <a:off x="1005840" y="2852928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terminal / PowerShell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Win + R  →  type 'powershell'</a:t>
              </a:r>
              <a:endParaRPr lang="en-US" sz="1050" dirty="0"/>
            </a:p>
          </p:txBody>
        </p:sp>
        <p:sp>
          <p:nvSpPr>
            <p:cNvPr id="50" name="Shape 13"/>
            <p:cNvSpPr/>
            <p:nvPr/>
          </p:nvSpPr>
          <p:spPr>
            <a:xfrm>
              <a:off x="621792" y="3511296"/>
              <a:ext cx="292608" cy="292608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51" name="Text 14"/>
            <p:cNvSpPr/>
            <p:nvPr/>
          </p:nvSpPr>
          <p:spPr>
            <a:xfrm>
              <a:off x="621792" y="351129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000" dirty="0"/>
            </a:p>
          </p:txBody>
        </p:sp>
        <p:sp>
          <p:nvSpPr>
            <p:cNvPr id="52" name="Text 15"/>
            <p:cNvSpPr/>
            <p:nvPr/>
          </p:nvSpPr>
          <p:spPr>
            <a:xfrm>
              <a:off x="1005840" y="3493008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Type:  ollama run llama3.2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Downloads &amp; runs a small model</a:t>
              </a:r>
              <a:endParaRPr lang="en-US" sz="1050" dirty="0"/>
            </a:p>
          </p:txBody>
        </p:sp>
        <p:sp>
          <p:nvSpPr>
            <p:cNvPr id="53" name="Shape 16"/>
            <p:cNvSpPr/>
            <p:nvPr/>
          </p:nvSpPr>
          <p:spPr>
            <a:xfrm>
              <a:off x="621792" y="4151376"/>
              <a:ext cx="292608" cy="292608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54" name="Text 17"/>
            <p:cNvSpPr/>
            <p:nvPr/>
          </p:nvSpPr>
          <p:spPr>
            <a:xfrm>
              <a:off x="621792" y="415137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55" name="Text 18"/>
            <p:cNvSpPr/>
            <p:nvPr/>
          </p:nvSpPr>
          <p:spPr>
            <a:xfrm>
              <a:off x="1005840" y="4133088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 chatting!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Works 100% offline</a:t>
              </a:r>
              <a:endParaRPr lang="en-US" sz="1050" dirty="0"/>
            </a:p>
          </p:txBody>
        </p:sp>
      </p:grpSp>
      <p:sp>
        <p:nvSpPr>
          <p:cNvPr id="56" name="Shape 19"/>
          <p:cNvSpPr/>
          <p:nvPr/>
        </p:nvSpPr>
        <p:spPr>
          <a:xfrm>
            <a:off x="549095" y="4521025"/>
            <a:ext cx="312166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7" name="Text 20"/>
          <p:cNvSpPr/>
          <p:nvPr/>
        </p:nvSpPr>
        <p:spPr>
          <a:xfrm>
            <a:off x="633574" y="4522517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beginner models:  llama3.2  •  phi4  •  mistral</a:t>
            </a:r>
            <a:endParaRPr lang="en-US" sz="10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4663440" y="1325880"/>
            <a:ext cx="3677993" cy="3090672"/>
            <a:chOff x="4800600" y="1459094"/>
            <a:chExt cx="3977640" cy="3246121"/>
          </a:xfrm>
        </p:grpSpPr>
        <p:sp>
          <p:nvSpPr>
            <p:cNvPr id="59" name="Shape 21"/>
            <p:cNvSpPr/>
            <p:nvPr/>
          </p:nvSpPr>
          <p:spPr>
            <a:xfrm>
              <a:off x="4800600" y="1459094"/>
              <a:ext cx="3977640" cy="3246121"/>
            </a:xfrm>
            <a:prstGeom prst="roundRect">
              <a:avLst>
                <a:gd name="adj" fmla="val 3380"/>
              </a:avLst>
            </a:prstGeom>
            <a:solidFill>
              <a:srgbClr val="EDE9FE"/>
            </a:solidFill>
            <a:ln w="12700">
              <a:solidFill>
                <a:srgbClr val="EDE9FE"/>
              </a:solidFill>
              <a:prstDash val="solid"/>
            </a:ln>
          </p:spPr>
        </p:sp>
        <p:sp>
          <p:nvSpPr>
            <p:cNvPr id="60" name="Text 22"/>
            <p:cNvSpPr/>
            <p:nvPr/>
          </p:nvSpPr>
          <p:spPr>
            <a:xfrm>
              <a:off x="4983480" y="1591056"/>
              <a:ext cx="3657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 smtClean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☁  </a:t>
              </a:r>
              <a:r>
                <a:rPr lang="en-US" sz="14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 LLM  (Needs API Key)</a:t>
              </a:r>
              <a:endParaRPr lang="en-US" sz="1400" dirty="0"/>
            </a:p>
          </p:txBody>
        </p:sp>
        <p:sp>
          <p:nvSpPr>
            <p:cNvPr id="61" name="Text 23"/>
            <p:cNvSpPr/>
            <p:nvPr/>
          </p:nvSpPr>
          <p:spPr>
            <a:xfrm>
              <a:off x="4983480" y="19019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 teams &amp; bigger models</a:t>
              </a:r>
              <a:endParaRPr lang="en-US" sz="1000" dirty="0"/>
            </a:p>
          </p:txBody>
        </p:sp>
        <p:sp>
          <p:nvSpPr>
            <p:cNvPr id="62" name="Shape 24"/>
            <p:cNvSpPr/>
            <p:nvPr/>
          </p:nvSpPr>
          <p:spPr>
            <a:xfrm>
              <a:off x="4956048" y="2231136"/>
              <a:ext cx="292608" cy="2926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63" name="Text 25"/>
            <p:cNvSpPr/>
            <p:nvPr/>
          </p:nvSpPr>
          <p:spPr>
            <a:xfrm>
              <a:off x="4956048" y="223113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64" name="Text 26"/>
            <p:cNvSpPr/>
            <p:nvPr/>
          </p:nvSpPr>
          <p:spPr>
            <a:xfrm>
              <a:off x="5340096" y="2212848"/>
              <a:ext cx="32918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Pick a provider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Groq (free) · OpenAI · HuggingFace</a:t>
              </a:r>
              <a:endParaRPr lang="en-US" sz="1050" dirty="0"/>
            </a:p>
          </p:txBody>
        </p:sp>
        <p:sp>
          <p:nvSpPr>
            <p:cNvPr id="65" name="Shape 27"/>
            <p:cNvSpPr/>
            <p:nvPr/>
          </p:nvSpPr>
          <p:spPr>
            <a:xfrm>
              <a:off x="4956048" y="2871216"/>
              <a:ext cx="292608" cy="2926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66" name="Text 28"/>
            <p:cNvSpPr/>
            <p:nvPr/>
          </p:nvSpPr>
          <p:spPr>
            <a:xfrm>
              <a:off x="4956048" y="28712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67" name="Text 29"/>
            <p:cNvSpPr/>
            <p:nvPr/>
          </p:nvSpPr>
          <p:spPr>
            <a:xfrm>
              <a:off x="5340096" y="2852928"/>
              <a:ext cx="32918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an account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 up &amp; set up access</a:t>
              </a:r>
              <a:endParaRPr lang="en-US" sz="1050" dirty="0"/>
            </a:p>
          </p:txBody>
        </p:sp>
        <p:sp>
          <p:nvSpPr>
            <p:cNvPr id="68" name="Shape 30"/>
            <p:cNvSpPr/>
            <p:nvPr/>
          </p:nvSpPr>
          <p:spPr>
            <a:xfrm>
              <a:off x="4956048" y="3511296"/>
              <a:ext cx="292608" cy="2926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69" name="Text 31"/>
            <p:cNvSpPr/>
            <p:nvPr/>
          </p:nvSpPr>
          <p:spPr>
            <a:xfrm>
              <a:off x="4956048" y="351129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000" dirty="0"/>
            </a:p>
          </p:txBody>
        </p:sp>
        <p:sp>
          <p:nvSpPr>
            <p:cNvPr id="70" name="Text 32"/>
            <p:cNvSpPr/>
            <p:nvPr/>
          </p:nvSpPr>
          <p:spPr>
            <a:xfrm>
              <a:off x="5340096" y="3493008"/>
              <a:ext cx="32918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 your API key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secret code like: gsk_abc123...</a:t>
              </a:r>
              <a:endParaRPr lang="en-US" sz="1050" dirty="0"/>
            </a:p>
          </p:txBody>
        </p:sp>
        <p:sp>
          <p:nvSpPr>
            <p:cNvPr id="71" name="Shape 33"/>
            <p:cNvSpPr/>
            <p:nvPr/>
          </p:nvSpPr>
          <p:spPr>
            <a:xfrm>
              <a:off x="4956048" y="4151376"/>
              <a:ext cx="292608" cy="2926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72" name="Text 34"/>
            <p:cNvSpPr/>
            <p:nvPr/>
          </p:nvSpPr>
          <p:spPr>
            <a:xfrm>
              <a:off x="4956048" y="415137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73" name="Text 35"/>
            <p:cNvSpPr/>
            <p:nvPr/>
          </p:nvSpPr>
          <p:spPr>
            <a:xfrm>
              <a:off x="5340096" y="4133088"/>
              <a:ext cx="32918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via code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the key to call the model</a:t>
              </a:r>
              <a:endParaRPr lang="en-US" sz="1050" dirty="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4843936" y="4449588"/>
            <a:ext cx="3168626" cy="489754"/>
            <a:chOff x="3172968" y="4642931"/>
            <a:chExt cx="3703320" cy="493432"/>
          </a:xfrm>
        </p:grpSpPr>
        <p:sp>
          <p:nvSpPr>
            <p:cNvPr id="75" name="Shape 36"/>
            <p:cNvSpPr/>
            <p:nvPr/>
          </p:nvSpPr>
          <p:spPr>
            <a:xfrm>
              <a:off x="3172968" y="4662190"/>
              <a:ext cx="3356012" cy="4584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2700">
              <a:solidFill>
                <a:srgbClr val="C4B5FD"/>
              </a:solidFill>
              <a:prstDash val="solid"/>
            </a:ln>
          </p:spPr>
        </p:sp>
        <p:sp>
          <p:nvSpPr>
            <p:cNvPr id="76" name="Text 37"/>
            <p:cNvSpPr/>
            <p:nvPr/>
          </p:nvSpPr>
          <p:spPr>
            <a:xfrm>
              <a:off x="3218688" y="4642931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🔑  What is an API key?</a:t>
              </a:r>
              <a:endParaRPr lang="en-US" sz="900" dirty="0"/>
            </a:p>
          </p:txBody>
        </p:sp>
        <p:sp>
          <p:nvSpPr>
            <p:cNvPr id="77" name="Text 38"/>
            <p:cNvSpPr/>
            <p:nvPr/>
          </p:nvSpPr>
          <p:spPr>
            <a:xfrm>
              <a:off x="3264408" y="4788891"/>
              <a:ext cx="3566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secret password your code uses to access the model.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Like a hotel key card — without it, no entry.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7107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8346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3 Steps</a:t>
            </a:r>
            <a:endParaRPr lang="en-US" sz="30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424694" y="1039830"/>
            <a:ext cx="7350995" cy="3328416"/>
            <a:chOff x="320040" y="987552"/>
            <a:chExt cx="8503920" cy="3493008"/>
          </a:xfrm>
        </p:grpSpPr>
        <p:sp>
          <p:nvSpPr>
            <p:cNvPr id="4" name="Shape 2"/>
            <p:cNvSpPr/>
            <p:nvPr/>
          </p:nvSpPr>
          <p:spPr>
            <a:xfrm>
              <a:off x="320040" y="987552"/>
              <a:ext cx="850392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E5FF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457200" y="1280160"/>
              <a:ext cx="438912" cy="438912"/>
            </a:xfrm>
            <a:prstGeom prst="ellipse">
              <a:avLst/>
            </a:prstGeom>
            <a:solidFill>
              <a:srgbClr val="00E5FF"/>
            </a:solidFill>
            <a:ln w="12700">
              <a:solidFill>
                <a:srgbClr val="00E5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57200" y="1280160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24128" y="1078992"/>
              <a:ext cx="36576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Install the library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024128" y="1463040"/>
              <a:ext cx="7498080" cy="384048"/>
            </a:xfrm>
            <a:prstGeom prst="rect">
              <a:avLst/>
            </a:prstGeom>
            <a:solidFill>
              <a:srgbClr val="EDF2F7"/>
            </a:solidFill>
            <a:ln w="6350">
              <a:solidFill>
                <a:srgbClr val="C5D0DC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1115568" y="1463040"/>
              <a:ext cx="7315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pip install openai</a:t>
              </a:r>
              <a:endParaRPr lang="en-US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320040" y="2221992"/>
              <a:ext cx="850392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D4EDD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457200" y="2514600"/>
              <a:ext cx="438912" cy="438912"/>
            </a:xfrm>
            <a:prstGeom prst="ellipse">
              <a:avLst/>
            </a:prstGeom>
            <a:solidFill>
              <a:srgbClr val="9D4EDD"/>
            </a:solidFill>
            <a:ln w="12700">
              <a:solidFill>
                <a:srgbClr val="9D4EDD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57200" y="2514600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2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024128" y="2313432"/>
              <a:ext cx="36576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 your API key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1024128" y="2697480"/>
              <a:ext cx="7498080" cy="384048"/>
            </a:xfrm>
            <a:prstGeom prst="rect">
              <a:avLst/>
            </a:prstGeom>
            <a:solidFill>
              <a:srgbClr val="EDF2F7"/>
            </a:solidFill>
            <a:ln w="6350">
              <a:solidFill>
                <a:srgbClr val="C5D0DC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1115568" y="2697480"/>
              <a:ext cx="7315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9D4ED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platform.openai.com → API Keys → Create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3456432"/>
              <a:ext cx="850392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E676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457200" y="3749040"/>
              <a:ext cx="438912" cy="438912"/>
            </a:xfrm>
            <a:prstGeom prst="ellipse">
              <a:avLst/>
            </a:prstGeom>
            <a:solidFill>
              <a:srgbClr val="00E676"/>
            </a:solidFill>
            <a:ln w="12700">
              <a:solidFill>
                <a:srgbClr val="00E676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7200" y="3749040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3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024128" y="3547872"/>
              <a:ext cx="36576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environment variable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024128" y="3931920"/>
              <a:ext cx="7498080" cy="384048"/>
            </a:xfrm>
            <a:prstGeom prst="rect">
              <a:avLst/>
            </a:prstGeom>
            <a:solidFill>
              <a:srgbClr val="EDF2F7"/>
            </a:solidFill>
            <a:ln w="6350">
              <a:solidFill>
                <a:srgbClr val="C5D0DC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115568" y="3931920"/>
              <a:ext cx="7315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0E67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export OPENAI_API_KEY="sk-..."</a:t>
              </a:r>
              <a:endParaRPr lang="en-US" sz="120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320040" y="4709160"/>
            <a:ext cx="8503920" cy="329184"/>
          </a:xfrm>
          <a:prstGeom prst="rect">
            <a:avLst/>
          </a:prstGeom>
          <a:solidFill>
            <a:srgbClr val="FFFBE8"/>
          </a:solidFill>
          <a:ln w="10160">
            <a:solidFill>
              <a:srgbClr val="FFA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your API key publicly or push it to GitHub!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8530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API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5212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5212080" cy="256032"/>
          </a:xfrm>
          <a:prstGeom prst="rect">
            <a:avLst/>
          </a:prstGeom>
          <a:solidFill>
            <a:srgbClr val="0A1020"/>
          </a:solidFill>
          <a:ln w="6350">
            <a:solidFill>
              <a:srgbClr val="C5D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188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88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188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3385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</a:rPr>
              <a:t>chatbot.py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4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 </a:t>
            </a:r>
            <a:r>
              <a:rPr lang="en-US" sz="1050" dirty="0">
                <a:solidFill>
                  <a:srgbClr val="9D4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client.chat.completions.create(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</a:t>
            </a:r>
            <a:r>
              <a:rPr lang="en-US" sz="1050" dirty="0">
                <a:solidFill>
                  <a:srgbClr val="5A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"gpt-4o-mini"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
        {
</a:t>
            </a:r>
            <a:r>
              <a:rPr lang="en-US" sz="105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"role"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05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"content"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 Who are you?"
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    ]
)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(response.choices[</a:t>
            </a:r>
            <a:r>
              <a:rPr lang="en-US" sz="1050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].message.content)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111556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FF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115568"/>
            <a:ext cx="45720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115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library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84708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676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847088"/>
            <a:ext cx="45720" cy="4572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847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client instance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57860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AB0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2578608"/>
            <a:ext cx="45720" cy="45720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5786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31012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4EDD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310128"/>
            <a:ext cx="45720" cy="4572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3101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422452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D0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4224528"/>
            <a:ext cx="45720" cy="4572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42245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response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8620" y="35674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Bot a Personality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898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6"/>
                </a:solidFill>
              </a:rPr>
              <a:t>Using System Prompts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08176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4EDD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45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45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49961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instruction that shapes the bot's behavior, tone, and knowledge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505456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FF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64261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42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59689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says in the conversation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602736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676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73989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398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assistant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369417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chatbot replies — also used to inject fake history</a:t>
            </a:r>
            <a:endParaRPr lang="en-US" sz="1050" dirty="0"/>
          </a:p>
        </p:txBody>
      </p:sp>
      <p:grpSp>
        <p:nvGrpSpPr>
          <p:cNvPr id="24" name="Group 23"/>
          <p:cNvGrpSpPr/>
          <p:nvPr/>
        </p:nvGrpSpPr>
        <p:grpSpPr>
          <a:xfrm>
            <a:off x="4703568" y="1317000"/>
            <a:ext cx="4006092" cy="3200136"/>
            <a:chOff x="4663440" y="1005840"/>
            <a:chExt cx="4206240" cy="3639312"/>
          </a:xfrm>
        </p:grpSpPr>
        <p:sp>
          <p:nvSpPr>
            <p:cNvPr id="17" name="Shape 15"/>
            <p:cNvSpPr/>
            <p:nvPr/>
          </p:nvSpPr>
          <p:spPr>
            <a:xfrm>
              <a:off x="4663440" y="1005840"/>
              <a:ext cx="4206240" cy="363931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5D0DC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4663440" y="1005840"/>
              <a:ext cx="4206240" cy="256032"/>
            </a:xfrm>
            <a:prstGeom prst="rect">
              <a:avLst/>
            </a:prstGeom>
            <a:solidFill>
              <a:srgbClr val="0A1020"/>
            </a:solidFill>
            <a:ln w="6350">
              <a:solidFill>
                <a:srgbClr val="C5D0DC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809744" y="1078992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956048" y="1078992"/>
              <a:ext cx="109728" cy="109728"/>
            </a:xfrm>
            <a:prstGeom prst="ellipse">
              <a:avLst/>
            </a:prstGeom>
            <a:solidFill>
              <a:srgbClr val="FEBC2E"/>
            </a:solidFill>
            <a:ln w="12700">
              <a:solidFill>
                <a:srgbClr val="FEBC2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102352" y="1078992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663440" y="1024128"/>
              <a:ext cx="42062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5A7A96"/>
                  </a:solidFill>
                </a:rPr>
                <a:t>system_prompt_example.py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73168" y="1316736"/>
              <a:ext cx="3986784" cy="3200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messages = [
  {
</a:t>
              </a:r>
              <a:r>
                <a:rPr lang="en-US" sz="1000" dirty="0">
                  <a:solidFill>
                    <a:srgbClr val="FFAB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"role"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9D4ED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"system"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FFAB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"content"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(
</a:t>
              </a:r>
              <a:r>
                <a:rPr lang="en-US" sz="1000" dirty="0">
                  <a:solidFill>
                    <a:srgbClr val="00E67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"You are a helpful study
      assistant for CS students.
      Explain things simply
      using analogies."
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)
  },
  {
</a:t>
              </a:r>
              <a:r>
                <a:rPr lang="en-US" sz="1000" dirty="0">
                  <a:solidFill>
                    <a:srgbClr val="FFAB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"role"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00E5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"user"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
</a:t>
              </a:r>
              <a:r>
                <a:rPr lang="en-US" sz="1000" dirty="0">
                  <a:solidFill>
                    <a:srgbClr val="FFAB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"content"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00E67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"What is recursion?"
</a:t>
              </a: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]</a:t>
              </a:r>
              <a:endParaRPr 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37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Remember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01783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6"/>
                </a:solidFill>
              </a:rPr>
              <a:t>LLMs have no memory — you have to send the full conversation every time</a:t>
            </a:r>
            <a:endParaRPr lang="en-US" sz="13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645014" y="1504023"/>
            <a:ext cx="8087506" cy="2606369"/>
            <a:chOff x="365760" y="1097280"/>
            <a:chExt cx="8412480" cy="2779776"/>
          </a:xfrm>
        </p:grpSpPr>
        <p:sp>
          <p:nvSpPr>
            <p:cNvPr id="5" name="Shape 3"/>
            <p:cNvSpPr/>
            <p:nvPr/>
          </p:nvSpPr>
          <p:spPr>
            <a:xfrm>
              <a:off x="2286000" y="1097280"/>
              <a:ext cx="6492240" cy="566928"/>
            </a:xfrm>
            <a:prstGeom prst="roundRect">
              <a:avLst>
                <a:gd name="adj" fmla="val 1612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9D4EDD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414016" y="1097280"/>
              <a:ext cx="623620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Hi! What's a for loop?</a:t>
              </a:r>
              <a:endParaRPr lang="en-US" sz="11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65760" y="1810512"/>
              <a:ext cx="6217920" cy="566928"/>
            </a:xfrm>
            <a:prstGeom prst="roundRect">
              <a:avLst>
                <a:gd name="adj" fmla="val 1612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C5D0DC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93776" y="1810512"/>
              <a:ext cx="596188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for loop repeats code for each item in a list. Think of it like reading a checklist!</a:t>
              </a:r>
              <a:endParaRPr lang="en-US" sz="11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286000" y="2578608"/>
              <a:ext cx="6492240" cy="566928"/>
            </a:xfrm>
            <a:prstGeom prst="roundRect">
              <a:avLst>
                <a:gd name="adj" fmla="val 1612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9D4EDD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414016" y="2578608"/>
              <a:ext cx="623620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 you show me an example?</a:t>
              </a:r>
              <a:endParaRPr lang="en-US" sz="11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65760" y="3310128"/>
              <a:ext cx="6217920" cy="566928"/>
            </a:xfrm>
            <a:prstGeom prst="roundRect">
              <a:avLst>
                <a:gd name="adj" fmla="val 1612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C5D0DC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93776" y="3310128"/>
              <a:ext cx="596188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Sure!</a:t>
              </a:r>
              <a:endParaRPr lang="en-US" sz="1150" dirty="0"/>
            </a:p>
            <a:p>
              <a:pPr marL="0" indent="0" algn="l">
                <a:buNone/>
              </a:pPr>
              <a:r>
                <a:rPr lang="en-US" sz="115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item in ["a","b","c"]:</a:t>
              </a:r>
              <a:endParaRPr lang="en-US" sz="1150" dirty="0"/>
            </a:p>
            <a:p>
              <a:pPr marL="0" indent="0" algn="l">
                <a:buNone/>
              </a:pPr>
              <a:r>
                <a:rPr lang="en-US" sz="1150" dirty="0">
                  <a:solidFill>
                    <a:srgbClr val="1A253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print(item)</a:t>
              </a:r>
              <a:endParaRPr lang="en-US" sz="115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320040" y="4462272"/>
            <a:ext cx="8503920" cy="438912"/>
          </a:xfrm>
          <a:prstGeom prst="rect">
            <a:avLst/>
          </a:prstGeom>
          <a:solidFill>
            <a:srgbClr val="FFFBE8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4622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Your code sends ALL messages above each time — that's how the bot 'remembers' the conversation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37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Chatbot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014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6"/>
                </a:solidFill>
              </a:rPr>
              <a:t>60 minutes — pick one idea (or invent your own!)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02786"/>
            <a:ext cx="2691136" cy="157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E676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02786"/>
            <a:ext cx="2691136" cy="43795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361" y="1525412"/>
            <a:ext cx="2488198" cy="35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Study Assistant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7361" y="1893289"/>
            <a:ext cx="2488198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understand any CS concept with simple explanations and examples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7361" y="2646563"/>
            <a:ext cx="864693" cy="245252"/>
          </a:xfrm>
          <a:prstGeom prst="roundRect">
            <a:avLst>
              <a:gd name="adj" fmla="val 21429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361" y="2646563"/>
            <a:ext cx="864693" cy="245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52614" y="1402786"/>
            <a:ext cx="2691136" cy="157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FF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2614" y="1402786"/>
            <a:ext cx="2691136" cy="43795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8495" y="1525412"/>
            <a:ext cx="2488198" cy="35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Recipe Bot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8495" y="1893289"/>
            <a:ext cx="2488198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meals based on ingredients the user has at home, with step-by-step instructions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8495" y="2646563"/>
            <a:ext cx="864693" cy="245252"/>
          </a:xfrm>
          <a:prstGeom prst="roundRect">
            <a:avLst>
              <a:gd name="adj" fmla="val 21429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8495" y="2646563"/>
            <a:ext cx="864693" cy="2452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3748" y="1402786"/>
            <a:ext cx="2691136" cy="157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9D4EDD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3748" y="1402786"/>
            <a:ext cx="2691136" cy="43795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29" y="1525412"/>
            <a:ext cx="2488198" cy="35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University FAQ Bot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29" y="1893289"/>
            <a:ext cx="2488198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about your university's courses, deadlines, or registration process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9629" y="2646563"/>
            <a:ext cx="1164688" cy="245252"/>
          </a:xfrm>
          <a:prstGeom prst="roundRect">
            <a:avLst>
              <a:gd name="adj" fmla="val 21429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29" y="2646563"/>
            <a:ext cx="1164688" cy="245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154584"/>
            <a:ext cx="2691136" cy="157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D0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54584"/>
            <a:ext cx="2691136" cy="43795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361" y="3277210"/>
            <a:ext cx="2488198" cy="35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Interview Prep Coach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7361" y="3645087"/>
            <a:ext cx="2488198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technical interview questions, evaluates answers, and gives feedback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7361" y="4398360"/>
            <a:ext cx="1164688" cy="245252"/>
          </a:xfrm>
          <a:prstGeom prst="roundRect">
            <a:avLst>
              <a:gd name="adj" fmla="val 21429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361" y="4398360"/>
            <a:ext cx="1164688" cy="245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52614" y="3154584"/>
            <a:ext cx="2691136" cy="157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AB0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52614" y="3154584"/>
            <a:ext cx="2691136" cy="43795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8495" y="3277210"/>
            <a:ext cx="2488198" cy="35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Language Tutor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58495" y="3645087"/>
            <a:ext cx="2488198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in another language, corrects mistakes, and teaches vocabulary in context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8495" y="4398360"/>
            <a:ext cx="864693" cy="245252"/>
          </a:xfrm>
          <a:prstGeom prst="roundRect">
            <a:avLst>
              <a:gd name="adj" fmla="val 21429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>
            <a:solidFill>
              <a:srgbClr val="FF3D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8495" y="4398360"/>
            <a:ext cx="864693" cy="245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93748" y="3154584"/>
            <a:ext cx="2691136" cy="157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3D87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93748" y="3154584"/>
            <a:ext cx="2691136" cy="43795"/>
          </a:xfrm>
          <a:prstGeom prst="rect">
            <a:avLst/>
          </a:prstGeom>
          <a:solidFill>
            <a:srgbClr val="FF3D87"/>
          </a:solidFill>
          <a:ln w="12700">
            <a:solidFill>
              <a:srgbClr val="FF3D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29" y="3277210"/>
            <a:ext cx="2488198" cy="35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Text Adventure Game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29" y="3645087"/>
            <a:ext cx="2488198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dynamic story where user choices shape what happens next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29" y="4398360"/>
            <a:ext cx="864693" cy="245252"/>
          </a:xfrm>
          <a:prstGeom prst="roundRect">
            <a:avLst>
              <a:gd name="adj" fmla="val 21429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FF3D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29" y="4398360"/>
            <a:ext cx="864693" cy="2452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🎉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170432" y="20116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Called a real AI API from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system prompts to control behavior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5681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 multi-turn chatbot with memory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3230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Shipped a working mini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6949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188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a Gradio UI (pip install gradio)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17190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Try GPT-4o for harder tasks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0" y="22494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function calling &amp; tools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27797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Learn RAG — give your bot documents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0" y="33101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it on Hugging Face Spaces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114800"/>
            <a:ext cx="85039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C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411480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Resources: </a:t>
            </a: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platform.openai.com/docs   |   colab.research.google.com   |   </a:t>
            </a: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project!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1827</Words>
  <Application>Microsoft Office PowerPoint</Application>
  <PresentationFormat>On-screen Show (16:9)</PresentationFormat>
  <Paragraphs>346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18</cp:revision>
  <dcterms:created xsi:type="dcterms:W3CDTF">2026-04-14T04:41:38Z</dcterms:created>
  <dcterms:modified xsi:type="dcterms:W3CDTF">2026-05-08T23:07:36Z</dcterms:modified>
</cp:coreProperties>
</file>